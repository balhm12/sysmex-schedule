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준수율</c:v>
                </c:pt>
              </c:strCache>
            </c:strRef>
          </c:tx>
          <c:spPr>
            <a:solidFill>
              <a:srgbClr val="005BAC"/>
            </a:solidFill>
            <a:ln w="31750" cap="flat">
              <a:solidFill>
                <a:srgbClr val="005B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5BAC"/>
              </a:solidFill>
              <a:ln w="9525" cap="flat">
                <a:solidFill>
                  <a:srgbClr val="005B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</c:v>
                </c:pt>
                <c:pt idx="1">
                  <c:v>23.8</c:v>
                </c:pt>
                <c:pt idx="2">
                  <c:v>18.5</c:v>
                </c:pt>
                <c:pt idx="3">
                  <c:v>25.5</c:v>
                </c:pt>
                <c:pt idx="4">
                  <c:v>29.4</c:v>
                </c:pt>
                <c:pt idx="5">
                  <c:v>28.5</c:v>
                </c:pt>
                <c:pt idx="6">
                  <c:v>14.4</c:v>
                </c:pt>
                <c:pt idx="7">
                  <c:v>27.5</c:v>
                </c:pt>
                <c:pt idx="8">
                  <c:v>28.3</c:v>
                </c:pt>
                <c:pt idx="9">
                  <c:v>17.6</c:v>
                </c:pt>
                <c:pt idx="10">
                  <c:v>15.1</c:v>
                </c:pt>
                <c:pt idx="11">
                  <c:v>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12개월 평균(기준선) 24%</c:v>
                </c:pt>
              </c:strCache>
            </c:strRef>
          </c:tx>
          <c:spPr>
            <a:solidFill>
              <a:srgbClr val="9E9E9E"/>
            </a:solidFill>
            <a:ln w="31750" cap="flat">
              <a:solidFill>
                <a:srgbClr val="9E9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E9E9E"/>
              </a:solidFill>
              <a:ln w="9525" cap="flat">
                <a:solidFill>
                  <a:srgbClr val="9E9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</c:v>
                </c:pt>
                <c:pt idx="1">
                  <c:v>24</c:v>
                </c:pt>
                <c:pt idx="2">
                  <c:v>24</c:v>
                </c:pt>
                <c:pt idx="3">
                  <c:v>24</c:v>
                </c:pt>
                <c:pt idx="4">
                  <c:v>24</c:v>
                </c:pt>
                <c:pt idx="5">
                  <c:v>24</c:v>
                </c:pt>
                <c:pt idx="6">
                  <c:v>24</c:v>
                </c:pt>
                <c:pt idx="7">
                  <c:v>24</c:v>
                </c:pt>
                <c:pt idx="8">
                  <c:v>24</c:v>
                </c:pt>
                <c:pt idx="9">
                  <c:v>24</c:v>
                </c:pt>
                <c:pt idx="10">
                  <c:v>24</c:v>
                </c:pt>
                <c:pt idx="11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005BA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 · SLA·FTFR·MTTR·Uptime 정의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조직개편(4월) 전후 방문·수리·PM건수 비교 · 수도권(FS West·East) 심층분석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63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43" name="Text 40"/>
          <p:cNvSpPr/>
          <p:nvPr/>
        </p:nvSpPr>
        <p:spPr>
          <a:xfrm>
            <a:off x="6263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922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22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 (2026년 6월 · 전월 대비, 정의는 다음 페이지)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준수율(수리)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21792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15.1%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21792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▼2.5%p (5월 17.6%)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21792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고장 수리 접수~해결 24시간 이내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282696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6" name="Text 12"/>
          <p:cNvSpPr/>
          <p:nvPr/>
        </p:nvSpPr>
        <p:spPr>
          <a:xfrm>
            <a:off x="3374136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374136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3374136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▼4.1%p (5월 73.1%)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374136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30352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MTTR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21792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125.3분</a:t>
            </a:r>
            <a:endParaRPr lang="en-US" sz="1900" dirty="0"/>
          </a:p>
        </p:txBody>
      </p:sp>
      <p:sp>
        <p:nvSpPr>
          <p:cNvPr id="23" name="Text 19"/>
          <p:cNvSpPr/>
          <p:nvPr/>
        </p:nvSpPr>
        <p:spPr>
          <a:xfrm>
            <a:off x="621792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▼12.2분 개선 (5월 137.5분)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621792" y="625449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3282696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6" name="Text 22"/>
          <p:cNvSpPr/>
          <p:nvPr/>
        </p:nvSpPr>
        <p:spPr>
          <a:xfrm>
            <a:off x="3374136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74136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미제공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3374136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99% 이상(혈액검사 장비 기준)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SLA 준수율 월별 추이 (고장 수리, 24시간 이내 해결)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309360" y="4480560"/>
            <a:ext cx="2880360" cy="219456"/>
          </a:xfrm>
          <a:prstGeom prst="roundRect">
            <a:avLst>
              <a:gd name="adj" fmla="val 16667"/>
            </a:avLst>
          </a:prstGeom>
          <a:solidFill>
            <a:srgbClr val="005BAC"/>
          </a:solidFill>
          <a:ln/>
        </p:spPr>
      </p:sp>
      <p:sp>
        <p:nvSpPr>
          <p:cNvPr id="31" name="Text 27"/>
          <p:cNvSpPr/>
          <p:nvPr/>
        </p:nvSpPr>
        <p:spPr>
          <a:xfrm>
            <a:off x="6309360" y="44805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기준: 24시간 이내 해결</a:t>
            </a:r>
            <a:endParaRPr lang="en-US" sz="9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309360" y="4754880"/>
          <a:ext cx="54864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 28"/>
          <p:cNvSpPr/>
          <p:nvPr/>
        </p:nvSpPr>
        <p:spPr>
          <a:xfrm>
            <a:off x="6309360" y="638251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= 고장 수리 케이스 접수~해결 24시간 이내 비율(CRM). 점선=12개월 평균 기준선. *7월은 21일까지(n=60) 잠정치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KPI 정의 및 산출 기준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7899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SLA·FTFR·MTTR·Uptime 정의·계산식과 2026년 6월 실적을 전월·기준과 비교 (SLA 준수율은 고장 수리 케이스만 대상)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81328"/>
          <a:ext cx="1110081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331720"/>
                <a:gridCol w="2697480"/>
                <a:gridCol w="1691640"/>
                <a:gridCol w="1280160"/>
                <a:gridCol w="18653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목표/기준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 실적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전월 대비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준수율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(수리)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 접수~해결이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이내인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24H 이내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고장수리 해결건수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기준: 24시간 이내 해결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15.1%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▼2.5%p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17.6%)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Response 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접수 후 최초 대응까지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걸린 시간 (짧을수록 좋음)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최초 대응 시각 − 접수 시각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추후 설정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FTFR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(First Time Fix Rate)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 방문으로 수리가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방문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방문 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▼4.1%p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73.1%)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MTTR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수리시간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수리 소요시간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 건수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125.3분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▼12.2분 개선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137.5분)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장비가 정상적으로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운영된 시간의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(총 운영가능시간 − 장애시간)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÷ 총 운영가능시간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99%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(혈액검사 장비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3035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 계산 예시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1323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100건 중 첫 방문 해결 92건 → FTFR = 92 ÷ 100 × 100 = 92%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19963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12" name="Text 8"/>
          <p:cNvSpPr/>
          <p:nvPr/>
        </p:nvSpPr>
        <p:spPr>
          <a:xfrm>
            <a:off x="638251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 계산 예시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8251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총 운영가능 720시간 중 장애 4시간 → Uptime = (720−4) ÷ 720 = 99.44%  ※ 혈액검사 장비는 대부분 99% 이상을 목표로 관리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0352" y="6400800"/>
            <a:ext cx="11100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Time·Uptime 실적은 접수/가동시간 로그가 CRM에 연동되지 않아 이번 달은 산출 불가 — 다음 보고 전 데이터 확보 추진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 – 조직개편 영향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케이스·약속활동 로그, 2026년 1~6월 직접 집계 · 4월 조직개편(기술/학술 분리) 전후 비교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63040"/>
          <a:ext cx="11100816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1581912"/>
                <a:gridCol w="1581912"/>
                <a:gridCol w="1581912"/>
                <a:gridCol w="1581912"/>
                <a:gridCol w="1581912"/>
                <a:gridCol w="1600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1,621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2,109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063240"/>
            <a:ext cx="11100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4월(음영)부터가 조직개편 이후 구간입니다.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30352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vs 개편 후(4~6월 평균)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+2.1%p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하이라이트 (전년 동월 대비)</a:t>
            </a:r>
            <a:endParaRPr lang="en-US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'25.6월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'26.6월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1,324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2,062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+42%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30352" y="5760720"/>
            <a:ext cx="11100816" cy="6858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/>
        </p:spPr>
      </p:sp>
      <p:sp>
        <p:nvSpPr>
          <p:cNvPr id="14" name="Text 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조직개편(4월) 이후 방문·PM건수가 개편 전 대비 각각 19%, 19% 증가했고 예방정비 지수도 소폭 개선(+2.1%p)되어 예방 중심 활동이 늘었습니다. 6월은 PM건수가 전년 동월 대비 +80.8% 급증(전체 활동 최고치)한 반면 수리건수 증가(+42.4%)는 상대적으로 완만해, 예방점검 확대 효과로 해석됩니다.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수도권(서울·경기·인천·강원) 조직개편 심층분석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West·FS East 담당자 실명을 CRM 로그에 직접 매칭해 집계 (2026년 1~6월) · 4월 조직개편 전후 비교 — 변화 폭이 커 별도 분석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17320"/>
          <a:ext cx="1110081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63624"/>
                <a:gridCol w="1563624"/>
                <a:gridCol w="1563624"/>
                <a:gridCol w="1563624"/>
                <a:gridCol w="1563624"/>
                <a:gridCol w="154533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 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 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346704"/>
            <a:ext cx="11100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 없는 구간)부터가 조직개편 이후입니다. 옅은 배경=FS West, 흰 배경=FS East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530352" y="3657600"/>
            <a:ext cx="11100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→ 개편 후(4~6월 평균) — 팀별 vs 전사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005072"/>
          <a:ext cx="11100816" cy="914400"/>
        </p:xfrm>
        <a:graphic>
          <a:graphicData uri="http://schemas.openxmlformats.org/drawingml/2006/table">
            <a:tbl>
              <a:tblPr/>
              <a:tblGrid>
                <a:gridCol w="1956816"/>
                <a:gridCol w="2286000"/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예방정비지수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311→367 (+18.1%)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143→173 (+21.0%)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169→180 (+6.7%)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54.2%→51.0% (-3.1%p)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294→347 (+17.9%)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162→172 (+6.2%)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127→196 (+54.3%)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43.9%→53.3% (+9.3%p)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West+East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605→714 (+18.0%)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305→345 (+13.1%)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296→376 (+27.2%)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49.3%→52.2% (+2.9%p)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(참고) FSG 전체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1757→2093 (+19.1%)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518→565 (+9.2%)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564→671 (+18.9%)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52.1%→54.3% (+2.1%p)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30352" y="5989320"/>
            <a:ext cx="11100816" cy="548640"/>
          </a:xfrm>
          <a:prstGeom prst="roundRect">
            <a:avLst>
              <a:gd name="adj" fmla="val 10000"/>
            </a:avLst>
          </a:prstGeom>
          <a:solidFill>
            <a:srgbClr val="E6EEF7"/>
          </a:solidFill>
          <a:ln/>
        </p:spPr>
      </p:sp>
      <p:sp>
        <p:nvSpPr>
          <p:cNvPr id="12" name="Text 7"/>
          <p:cNvSpPr/>
          <p:nvPr/>
        </p:nvSpPr>
        <p:spPr>
          <a:xfrm>
            <a:off x="731520" y="605332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수도권(West+East)의 방문건수 증가(+18.0%)는 전사 평균(+19.1%)과 비슷하지만, PM건수 증가(+27.2%)는 전사(+18.9%)보다 뚜렷하게 큽니다. 다만 팀별로는 온도차가 커서, FS East는 PM건수 +54.3%·예방정비지수 +9.3%p로 예방 중심 전환이 뚜렷한 반면 FS West는 PM건수 +6.7%에 그치고 예방정비지수는 오히려 -3.1%p 하락 — East의 예방 활동 확대 방식을 West에도 적용할 수 있는지 점검이 필요합니다.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기간 주요 처리 사례 — 3팀 협업 대응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2331720"/>
          </a:xfrm>
          <a:prstGeom prst="roundRect">
            <a:avLst>
              <a:gd name="adj" fmla="val 2745"/>
            </a:avLst>
          </a:prstGeom>
          <a:solidFill>
            <a:srgbClr val="F5F8FC"/>
          </a:solidFill>
          <a:ln w="12700">
            <a:solidFill>
              <a:srgbClr val="E741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2615184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E7413E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261518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경북대병원 · XN-9100 Host 연동 장애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13232" y="3090672"/>
            <a:ext cx="10698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XN-9100 운영 중 Host Timeout 및 Host Data Error가 간헐적으로 발생하여 검사 지연 발생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ACK의 ENQ Delay Time 설정으로 인해 CT와 I/F Host 간 통신 과정에서 신호 순서 오류가 발생한 것으로 판단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대응: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South(현장 대응) · FSS팀(장비 운영 및 시스템 소프트웨어 처리) · TLA팀(전산 관련 처리) 3개 팀 협업으로 원인 분석 및 조치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ENQ Delay Time(1sec) 설정 제거 후 Host Data Error 재발 없이 안정적으로 운영 중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조치: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경북대병원 과장님께 현황 보고 및 CT-90 Version 00-42 업그레이드 진행, 지속 모니터링 예정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0352" y="4956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접수 · 조치 · 종결 건수 현황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" y="5257800"/>
            <a:ext cx="11100816" cy="1143000"/>
          </a:xfrm>
          <a:prstGeom prst="roundRect">
            <a:avLst>
              <a:gd name="adj" fmla="val 6400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30352" y="5257800"/>
            <a:ext cx="11100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데이터 분석 결과 (2026년 7월): 강남차병원·강남차여성병원 프로젝트(XR-9000/XR-1000)는 담당 엔지니어(김세진)가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Response Time·Uptime 로그,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2026-07-22T02:14:41Z</dcterms:created>
  <dcterms:modified xsi:type="dcterms:W3CDTF">2026-07-22T02:14:41Z</dcterms:modified>
</cp:coreProperties>
</file>