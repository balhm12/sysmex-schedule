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SLA 준수율</c:v>
                </c:pt>
              </c:strCache>
            </c:strRef>
          </c:tx>
          <c:spPr>
            <a:solidFill>
              <a:srgbClr val="005BAC"/>
            </a:solidFill>
            <a:ln w="31750" cap="flat">
              <a:solidFill>
                <a:srgbClr val="005BA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5BAC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005BAC"/>
              </a:solidFill>
              <a:ln w="9525" cap="flat">
                <a:solidFill>
                  <a:srgbClr val="005BA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25-08</c:v>
                  </c:pt>
                  <c:pt idx="1">
                    <c:v>25-09</c:v>
                  </c:pt>
                  <c:pt idx="2">
                    <c:v>25-10</c:v>
                  </c:pt>
                  <c:pt idx="3">
                    <c:v>25-11</c:v>
                  </c:pt>
                  <c:pt idx="4">
                    <c:v>25-12</c:v>
                  </c:pt>
                  <c:pt idx="5">
                    <c:v>26-01</c:v>
                  </c:pt>
                  <c:pt idx="6">
                    <c:v>26-02</c:v>
                  </c:pt>
                  <c:pt idx="7">
                    <c:v>26-03</c:v>
                  </c:pt>
                  <c:pt idx="8">
                    <c:v>26-04</c:v>
                  </c:pt>
                  <c:pt idx="9">
                    <c:v>26-05</c:v>
                  </c:pt>
                  <c:pt idx="10">
                    <c:v>26-06</c:v>
                  </c:pt>
                  <c:pt idx="11">
                    <c:v>26-07*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21.9</c:v>
                </c:pt>
                <c:pt idx="1">
                  <c:v>20.5</c:v>
                </c:pt>
                <c:pt idx="2">
                  <c:v>18.6</c:v>
                </c:pt>
                <c:pt idx="3">
                  <c:v>25.8</c:v>
                </c:pt>
                <c:pt idx="4">
                  <c:v>23.2</c:v>
                </c:pt>
                <c:pt idx="5">
                  <c:v>30</c:v>
                </c:pt>
                <c:pt idx="6">
                  <c:v>11.9</c:v>
                </c:pt>
                <c:pt idx="7">
                  <c:v>37.6</c:v>
                </c:pt>
                <c:pt idx="8">
                  <c:v>39.3</c:v>
                </c:pt>
                <c:pt idx="9">
                  <c:v>31.3</c:v>
                </c:pt>
                <c:pt idx="10">
                  <c:v>28</c:v>
                </c:pt>
                <c:pt idx="11">
                  <c:v>44.1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5BAC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E9E9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E9E9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1148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</p:spPr>
      </p:sp>
      <p:pic>
        <p:nvPicPr>
          <p:cNvPr id="4" name="Image 0" descr="sysmex_logo_full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94360"/>
            <a:ext cx="182880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78408" y="237744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FSG 월간 서비스 활동 보고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978408" y="34015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중심(Customer-Centric) 서비스 운영 보고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78408" y="388620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0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7월 · FS Group / FSS Team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78408" y="539496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E0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2026.07.25 · FS Group / FSS Team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0" y="62636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CF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 for a better healthcare journey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 및 Executive Summary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28016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207008" y="118872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활동 보고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07008" y="153619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설치·PM·A/S 실적 및 KPI 요약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228600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207008" y="21945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장비별 설치 현황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207008" y="254203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구분 없이 모델(시리즈)별 설치 집계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207008" y="32004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케이스 분석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207008" y="35478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추이·서비스 목적별 비율·예방정비 지수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48640" y="429768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207008" y="42062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월간 트렌드 비교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07008" y="455371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조직개편(4월) 전후 방문·수리·PM건수 비교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48640" y="530352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5303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207008" y="521208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고객 및 장애 분석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1207008" y="555955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병원 TOP5·반복 장애 장비·주요 장애 요인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263640" y="128016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27" name="Text 24"/>
          <p:cNvSpPr/>
          <p:nvPr/>
        </p:nvSpPr>
        <p:spPr>
          <a:xfrm>
            <a:off x="626364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6922008" y="118872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장비별 에러율 분석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922008" y="153619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XN/XR·CN·SP·HISCL 계열별 에러율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263640" y="228600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31" name="Text 28"/>
          <p:cNvSpPr/>
          <p:nvPr/>
        </p:nvSpPr>
        <p:spPr>
          <a:xfrm>
            <a:off x="62636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6922008" y="21945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수집 정보 및 처리현황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6922008" y="254203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만족도 서베이 응답·유형별 처리 현황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6263640" y="329184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35" name="Text 32"/>
          <p:cNvSpPr/>
          <p:nvPr/>
        </p:nvSpPr>
        <p:spPr>
          <a:xfrm>
            <a:off x="626364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6922008" y="32004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 이슈 처리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6922008" y="35478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긴급/중대 VOC 접수·조치·종결 현황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6263640" y="429768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39" name="Text 36"/>
          <p:cNvSpPr/>
          <p:nvPr/>
        </p:nvSpPr>
        <p:spPr>
          <a:xfrm>
            <a:off x="626364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600" dirty="0"/>
          </a:p>
        </p:txBody>
      </p:sp>
      <p:sp>
        <p:nvSpPr>
          <p:cNvPr id="40" name="Text 37"/>
          <p:cNvSpPr/>
          <p:nvPr/>
        </p:nvSpPr>
        <p:spPr>
          <a:xfrm>
            <a:off x="6922008" y="42062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 교육 등 처리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6922008" y="455371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대리점(에이전시) 대상 기술·서비스 교육 현황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6263640" y="530352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43" name="Text 40"/>
          <p:cNvSpPr/>
          <p:nvPr/>
        </p:nvSpPr>
        <p:spPr>
          <a:xfrm>
            <a:off x="6263640" y="5303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600" dirty="0"/>
          </a:p>
        </p:txBody>
      </p:sp>
      <p:sp>
        <p:nvSpPr>
          <p:cNvPr id="44" name="Text 41"/>
          <p:cNvSpPr/>
          <p:nvPr/>
        </p:nvSpPr>
        <p:spPr>
          <a:xfrm>
            <a:off x="6922008" y="521208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직원교육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6922008" y="555955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Technical Academy 및 사내 그룹 활동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활동 보고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143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팀별 서비스 활동 실적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508760"/>
          <a:ext cx="93268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188720"/>
                <a:gridCol w="822960"/>
                <a:gridCol w="1645920"/>
                <a:gridCol w="137160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A/S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East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김병우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West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South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성기홍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Central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정근하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44명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30352" y="3776472"/>
            <a:ext cx="11100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팀장·인원수는 work-schedule.html 로스터 기준. 설치 건수는 신규 설치 기준(설치일정 관리 시트). 이전설치 4건 (FS East 3 · FS West 1), 장비 설치평가 4건 (SA팀 진행, FS팀 실적과 별도 집계)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530352" y="4160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 요약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30352" y="4526280"/>
            <a:ext cx="2615184" cy="960120"/>
          </a:xfrm>
          <a:prstGeom prst="roundRect">
            <a:avLst>
              <a:gd name="adj" fmla="val 5714"/>
            </a:avLst>
          </a:prstGeom>
          <a:solidFill>
            <a:srgbClr val="F5F8FC"/>
          </a:solidFill>
          <a:ln/>
        </p:spPr>
      </p:sp>
      <p:sp>
        <p:nvSpPr>
          <p:cNvPr id="11" name="Text 7"/>
          <p:cNvSpPr/>
          <p:nvPr/>
        </p:nvSpPr>
        <p:spPr>
          <a:xfrm>
            <a:off x="530352" y="4599432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재방문율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30352" y="4873752"/>
            <a:ext cx="2615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530352" y="5212080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15% 이하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328416" y="4526280"/>
            <a:ext cx="2615184" cy="960120"/>
          </a:xfrm>
          <a:prstGeom prst="roundRect">
            <a:avLst>
              <a:gd name="adj" fmla="val 5714"/>
            </a:avLst>
          </a:prstGeom>
          <a:solidFill>
            <a:srgbClr val="F5F8FC"/>
          </a:solidFill>
          <a:ln/>
        </p:spPr>
      </p:sp>
      <p:sp>
        <p:nvSpPr>
          <p:cNvPr id="15" name="Text 11"/>
          <p:cNvSpPr/>
          <p:nvPr/>
        </p:nvSpPr>
        <p:spPr>
          <a:xfrm>
            <a:off x="3328416" y="4599432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Uptime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3328416" y="4873752"/>
            <a:ext cx="2615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3328416" y="5212080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90% 이상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530352" y="5669280"/>
            <a:ext cx="2615184" cy="960120"/>
          </a:xfrm>
          <a:prstGeom prst="roundRect">
            <a:avLst>
              <a:gd name="adj" fmla="val 5714"/>
            </a:avLst>
          </a:prstGeom>
          <a:solidFill>
            <a:srgbClr val="F5F8FC"/>
          </a:solidFill>
          <a:ln/>
        </p:spPr>
      </p:sp>
      <p:sp>
        <p:nvSpPr>
          <p:cNvPr id="19" name="Text 15"/>
          <p:cNvSpPr/>
          <p:nvPr/>
        </p:nvSpPr>
        <p:spPr>
          <a:xfrm>
            <a:off x="530352" y="5742432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FTFR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30352" y="6016752"/>
            <a:ext cx="2615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530352" y="6355080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지표</a:t>
            </a:r>
            <a:endParaRPr lang="en-US" sz="900" dirty="0"/>
          </a:p>
        </p:txBody>
      </p:sp>
      <p:sp>
        <p:nvSpPr>
          <p:cNvPr id="22" name="Shape 18"/>
          <p:cNvSpPr/>
          <p:nvPr/>
        </p:nvSpPr>
        <p:spPr>
          <a:xfrm>
            <a:off x="3328416" y="5669280"/>
            <a:ext cx="2615184" cy="960120"/>
          </a:xfrm>
          <a:prstGeom prst="roundRect">
            <a:avLst>
              <a:gd name="adj" fmla="val 5714"/>
            </a:avLst>
          </a:prstGeom>
          <a:solidFill>
            <a:srgbClr val="F5F8FC"/>
          </a:solidFill>
          <a:ln/>
        </p:spPr>
      </p:sp>
      <p:sp>
        <p:nvSpPr>
          <p:cNvPr id="23" name="Text 19"/>
          <p:cNvSpPr/>
          <p:nvPr/>
        </p:nvSpPr>
        <p:spPr>
          <a:xfrm>
            <a:off x="3328416" y="5742432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 배정율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3328416" y="6016752"/>
            <a:ext cx="2615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3328416" y="6355080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100%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309360" y="4160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SLA 월별 추이 (24시간 이내 해결 비율)</a:t>
            </a:r>
            <a:endParaRPr lang="en-US" sz="1400" dirty="0"/>
          </a:p>
        </p:txBody>
      </p:sp>
      <p:graphicFrame>
        <p:nvGraphicFramePr>
          <p:cNvPr id="27" name="Chart 0" descr=""/>
          <p:cNvGraphicFramePr/>
          <p:nvPr/>
        </p:nvGraphicFramePr>
        <p:xfrm>
          <a:off x="6309360" y="4480560"/>
          <a:ext cx="548640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8" name="Text 23"/>
          <p:cNvSpPr/>
          <p:nvPr/>
        </p:nvSpPr>
        <p:spPr>
          <a:xfrm>
            <a:off x="6309360" y="6382512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 = 케이스 생성~해결 24시간 이내 비율(CRM). *7월은 21일까지 잠정치</a:t>
            </a:r>
            <a:endParaRPr lang="en-US" sz="750" dirty="0"/>
          </a:p>
        </p:txBody>
      </p:sp>
      <p:sp>
        <p:nvSpPr>
          <p:cNvPr id="29" name="Text 24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30" name="Text 25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장비별 설치 현황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9728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7월 설치+이전설치 전체 16건 — 팀 구분 없이 모델(시리즈) 기준 집계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600200"/>
          <a:ext cx="5852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장비 모델(시리즈)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비중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XR 시리즈 (Hematology)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44%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XN 시리즈 (Hematology)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 시리즈 (Coagulation)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UN/UC 시리즈 (Urine)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SP/DI 시리즈 (도말표본)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858000" y="16002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XR 시리즈 (Hematology)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6858000" y="1892808"/>
            <a:ext cx="4206240" cy="256032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10" name="Text 6"/>
          <p:cNvSpPr/>
          <p:nvPr/>
        </p:nvSpPr>
        <p:spPr>
          <a:xfrm>
            <a:off x="11155680" y="185623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7건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858000" y="22585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XN 시리즈 (Hematology)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858000" y="2551176"/>
            <a:ext cx="3004457" cy="256032"/>
          </a:xfrm>
          <a:prstGeom prst="rect">
            <a:avLst/>
          </a:prstGeom>
          <a:solidFill>
            <a:srgbClr val="00B8EE"/>
          </a:solidFill>
          <a:ln/>
        </p:spPr>
      </p:sp>
      <p:sp>
        <p:nvSpPr>
          <p:cNvPr id="13" name="Text 9"/>
          <p:cNvSpPr/>
          <p:nvPr/>
        </p:nvSpPr>
        <p:spPr>
          <a:xfrm>
            <a:off x="9953897" y="25146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5건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6858000" y="291693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 시리즈 (Coagulation)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858000" y="3209544"/>
            <a:ext cx="1201783" cy="256032"/>
          </a:xfrm>
          <a:prstGeom prst="rect">
            <a:avLst/>
          </a:prstGeom>
          <a:solidFill>
            <a:srgbClr val="3FBA46"/>
          </a:solidFill>
          <a:ln/>
        </p:spPr>
      </p:sp>
      <p:sp>
        <p:nvSpPr>
          <p:cNvPr id="16" name="Text 12"/>
          <p:cNvSpPr/>
          <p:nvPr/>
        </p:nvSpPr>
        <p:spPr>
          <a:xfrm>
            <a:off x="8151223" y="317296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2건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858000" y="357530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UN/UC 시리즈 (Urine)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858000" y="3867912"/>
            <a:ext cx="600891" cy="256032"/>
          </a:xfrm>
          <a:prstGeom prst="rect">
            <a:avLst/>
          </a:prstGeom>
          <a:solidFill>
            <a:srgbClr val="7E49DC"/>
          </a:solidFill>
          <a:ln/>
        </p:spPr>
      </p:sp>
      <p:sp>
        <p:nvSpPr>
          <p:cNvPr id="19" name="Text 15"/>
          <p:cNvSpPr/>
          <p:nvPr/>
        </p:nvSpPr>
        <p:spPr>
          <a:xfrm>
            <a:off x="7550331" y="383133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1건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6858000" y="42336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SP/DI 시리즈 (도말표본)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6858000" y="4526280"/>
            <a:ext cx="600891" cy="256032"/>
          </a:xfrm>
          <a:prstGeom prst="rect">
            <a:avLst/>
          </a:prstGeom>
          <a:solidFill>
            <a:srgbClr val="E69E0B"/>
          </a:solidFill>
          <a:ln/>
        </p:spPr>
      </p:sp>
      <p:sp>
        <p:nvSpPr>
          <p:cNvPr id="22" name="Text 18"/>
          <p:cNvSpPr/>
          <p:nvPr/>
        </p:nvSpPr>
        <p:spPr>
          <a:xfrm>
            <a:off x="7550331" y="448970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1건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530352" y="512064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소스: 설치일정 관리 시트 (2026년 7월, 설치+이전설치 전체 대상, 원본 모델명을 시리즈 단위로 그룹핑)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케이스 분석 – 추이 및 지수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51560"/>
            <a:ext cx="11100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CRM 서비스 케이스 데이터, 최근 1년 누적 기준 (월간 서비스 활동 실적과 별도 참고 지표)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30352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Service Case 추이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30352" y="1874520"/>
            <a:ext cx="5486400" cy="914400"/>
          </a:xfrm>
          <a:prstGeom prst="roundRect">
            <a:avLst>
              <a:gd name="adj" fmla="val 7000"/>
            </a:avLst>
          </a:prstGeom>
          <a:solidFill>
            <a:srgbClr val="F5F8FC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19842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 · 2026년 6월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749040" y="194767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74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2,425건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30352" y="2926080"/>
            <a:ext cx="5486400" cy="914400"/>
          </a:xfrm>
          <a:prstGeom prst="roundRect">
            <a:avLst>
              <a:gd name="adj" fmla="val 7000"/>
            </a:avLst>
          </a:prstGeom>
          <a:solidFill>
            <a:srgbClr val="F5F8FC"/>
          </a:solidFill>
          <a:ln/>
        </p:spPr>
      </p:sp>
      <p:sp>
        <p:nvSpPr>
          <p:cNvPr id="12" name="Text 9"/>
          <p:cNvSpPr/>
          <p:nvPr/>
        </p:nvSpPr>
        <p:spPr>
          <a:xfrm>
            <a:off x="731520" y="30358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 · 2026년 2월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749040" y="299923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05B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1,449건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530352" y="40690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지속적인 증가·변동 추세를 보이며, 계절/이벤트에 따른 월별 편차가 존재합니다.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30936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목적별 비율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309360" y="187452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고장 수리 (Breakdown Repair)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309360" y="2130552"/>
            <a:ext cx="3108960" cy="182880"/>
          </a:xfrm>
          <a:prstGeom prst="rect">
            <a:avLst/>
          </a:prstGeom>
          <a:solidFill>
            <a:srgbClr val="E7413E"/>
          </a:solidFill>
          <a:ln/>
        </p:spPr>
      </p:sp>
      <p:sp>
        <p:nvSpPr>
          <p:cNvPr id="18" name="Text 15"/>
          <p:cNvSpPr/>
          <p:nvPr/>
        </p:nvSpPr>
        <p:spPr>
          <a:xfrm>
            <a:off x="9509760" y="1874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15,149건 · 37.9%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309360" y="24048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PM (정기 점검)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309360" y="2660904"/>
            <a:ext cx="3059742" cy="18288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21" name="Text 18"/>
          <p:cNvSpPr/>
          <p:nvPr/>
        </p:nvSpPr>
        <p:spPr>
          <a:xfrm>
            <a:off x="9509760" y="240487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14,904건 · 37.3%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6309360" y="293522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Calibration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309360" y="3191256"/>
            <a:ext cx="1164835" cy="182880"/>
          </a:xfrm>
          <a:prstGeom prst="rect">
            <a:avLst/>
          </a:prstGeom>
          <a:solidFill>
            <a:srgbClr val="00B8EE"/>
          </a:solidFill>
          <a:ln/>
        </p:spPr>
      </p:sp>
      <p:sp>
        <p:nvSpPr>
          <p:cNvPr id="24" name="Text 21"/>
          <p:cNvSpPr/>
          <p:nvPr/>
        </p:nvSpPr>
        <p:spPr>
          <a:xfrm>
            <a:off x="9509760" y="293522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5,699건 · 14.2%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309360" y="346557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기타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309360" y="3721608"/>
            <a:ext cx="869524" cy="182880"/>
          </a:xfrm>
          <a:prstGeom prst="rect">
            <a:avLst/>
          </a:prstGeom>
          <a:solidFill>
            <a:srgbClr val="9E9E9E"/>
          </a:solidFill>
          <a:ln/>
        </p:spPr>
      </p:sp>
      <p:sp>
        <p:nvSpPr>
          <p:cNvPr id="27" name="Text 24"/>
          <p:cNvSpPr/>
          <p:nvPr/>
        </p:nvSpPr>
        <p:spPr>
          <a:xfrm>
            <a:off x="9509760" y="346557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10.6%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6309360" y="4114800"/>
            <a:ext cx="5486400" cy="1371600"/>
          </a:xfrm>
          <a:prstGeom prst="roundRect">
            <a:avLst>
              <a:gd name="adj" fmla="val 4667"/>
            </a:avLst>
          </a:prstGeom>
          <a:solidFill>
            <a:srgbClr val="E6EEF7"/>
          </a:solidFill>
          <a:ln/>
        </p:spPr>
      </p:sp>
      <p:sp>
        <p:nvSpPr>
          <p:cNvPr id="29" name="Text 26"/>
          <p:cNvSpPr/>
          <p:nvPr/>
        </p:nvSpPr>
        <p:spPr>
          <a:xfrm>
            <a:off x="6492240" y="42245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예방정비 지수 (PM Ratio)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26880" y="41605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05B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49.6%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6492240" y="461772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PM건수 ÷ (PM+고장수리) × 100. PM과 고장수리 비율이 팽팽히 맞서고 있어, 예방점검 품질을 높여 사후 고장수리 비율을 낮추는 전략이 필요합니다.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월간 트렌드 비교 – 조직개편 영향 분석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51560"/>
            <a:ext cx="11100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CRM 서비스 케이스·약속활동 로그, 2026년 1~6월 직접 집계 · 4월 조직개편(기술/학술 분리) 전후 비교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463040"/>
          <a:ext cx="11100816" cy="914400"/>
        </p:xfrm>
        <a:graphic>
          <a:graphicData uri="http://schemas.openxmlformats.org/drawingml/2006/table">
            <a:tbl>
              <a:tblPr/>
              <a:tblGrid>
                <a:gridCol w="1591056"/>
                <a:gridCol w="1581912"/>
                <a:gridCol w="1581912"/>
                <a:gridCol w="1581912"/>
                <a:gridCol w="1581912"/>
                <a:gridCol w="1581912"/>
                <a:gridCol w="16002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방문건수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1,621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1,449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2,201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2,109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1,744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2,425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수리건수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566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473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514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526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665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PM건수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539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649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666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442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30352" y="3063240"/>
            <a:ext cx="11100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4월(음영)부터가 조직개편 이후 구간입니다.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530352" y="3429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개편 전(1~3월 평균) vs 개편 후(4~6월 평균)</a:t>
            </a:r>
            <a:endParaRPr lang="en-US" sz="13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3794760"/>
          <a:ext cx="5486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18872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개편 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개편 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증감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방문건수(월평균)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1,757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2,093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BA4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+19%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수리건수(월평균)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518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565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BA4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+9%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PM건수(월평균)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564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671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BA4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+19%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예방정비 지수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52.1%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54.3%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BA4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+2.1%p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6309360" y="3429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6월 하이라이트 (전년 동월 대비)</a:t>
            </a:r>
            <a:endParaRPr lang="en-US" sz="1300" dirty="0"/>
          </a:p>
        </p:txBody>
      </p:sp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3794760"/>
          <a:ext cx="5486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18872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'25.6월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'26.6월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YoY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방문건수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1,438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2,425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BA4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+69%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 활동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1,324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2,062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BA4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+56%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수리건수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467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665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BA4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+42%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PM건수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BA4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+81%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7"/>
          <p:cNvSpPr/>
          <p:nvPr/>
        </p:nvSpPr>
        <p:spPr>
          <a:xfrm>
            <a:off x="530352" y="5760720"/>
            <a:ext cx="11100816" cy="685800"/>
          </a:xfrm>
          <a:prstGeom prst="roundRect">
            <a:avLst>
              <a:gd name="adj" fmla="val 8000"/>
            </a:avLst>
          </a:prstGeom>
          <a:solidFill>
            <a:srgbClr val="E6EEF7"/>
          </a:solidFill>
          <a:ln/>
        </p:spPr>
      </p:sp>
      <p:sp>
        <p:nvSpPr>
          <p:cNvPr id="14" name="Text 8"/>
          <p:cNvSpPr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Insight: 조직개편(4월) 이후 방문·PM건수가 개편 전 대비 각각 19%, 19% 증가했고 예방정비 지수도 소폭 개선(+2.1%p)되어 예방 중심 활동이 늘었습니다. 6월은 PM건수가 전년 동월 대비 +80.8% 급증(전체 활동 최고치)한 반면 수리건수 증가(+42.4%)는 상대적으로 완만해, 예방점검 확대 효과로 해석됩니다.</a:t>
            </a:r>
            <a:endParaRPr lang="en-US" sz="1050" dirty="0"/>
          </a:p>
        </p:txBody>
      </p:sp>
      <p:sp>
        <p:nvSpPr>
          <p:cNvPr id="15" name="Text 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6" name="Text 1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고객 및 장애 분석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51560"/>
            <a:ext cx="11100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CRM 서비스 케이스 데이터, 최근 1년 누적 기준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30352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병원 TOP 5 (서비스 활동 기준)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828800"/>
          <a:ext cx="54864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56616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기관명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의료법인녹십자의료재단 (용인)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1,464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서울의과학연구소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서울아산병원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775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이원의료재단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710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씨젠의료재단 (서울)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689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30352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엔지니어 생산성 TOP 5</a:t>
            </a:r>
            <a:endParaRPr lang="en-US" sz="13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4434840"/>
          <a:ext cx="54864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731520"/>
                <a:gridCol w="1005840"/>
                <a:gridCol w="10058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담당자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소속팀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작업시간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고장수리%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이인구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West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1727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2760h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44.4%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37.6%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조수호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South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1469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2081h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19.7%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49.4%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김태현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South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1409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2101h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29.7%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37.2%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박석영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South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1397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2005h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31.6%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49.9%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이준민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South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1391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2713h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30.9%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45%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530352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소스: CRM 약속·활동 로그 (담당자·시작/종료시간 기준, 취소 건 제외)</a:t>
            </a:r>
            <a:endParaRPr lang="en-US" sz="900" dirty="0"/>
          </a:p>
        </p:txBody>
      </p:sp>
      <p:sp>
        <p:nvSpPr>
          <p:cNvPr id="12" name="Text 7"/>
          <p:cNvSpPr/>
          <p:nvPr/>
        </p:nvSpPr>
        <p:spPr>
          <a:xfrm>
            <a:off x="630936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장애 장비 TOP 3 (Proactive Service 1순위 대상)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6309360" y="1828800"/>
            <a:ext cx="5486400" cy="502920"/>
          </a:xfrm>
          <a:prstGeom prst="roundRect">
            <a:avLst>
              <a:gd name="adj" fmla="val 9091"/>
            </a:avLst>
          </a:prstGeom>
          <a:solidFill>
            <a:srgbClr val="FCE9E8"/>
          </a:solidFill>
          <a:ln/>
        </p:spPr>
      </p:sp>
      <p:sp>
        <p:nvSpPr>
          <p:cNvPr id="14" name="Text 9"/>
          <p:cNvSpPr/>
          <p:nvPr/>
        </p:nvSpPr>
        <p:spPr>
          <a:xfrm>
            <a:off x="6492240" y="188366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S/N 15032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9509760" y="188366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74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92건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6309360" y="2404872"/>
            <a:ext cx="5486400" cy="502920"/>
          </a:xfrm>
          <a:prstGeom prst="roundRect">
            <a:avLst>
              <a:gd name="adj" fmla="val 9091"/>
            </a:avLst>
          </a:prstGeom>
          <a:solidFill>
            <a:srgbClr val="F5F8FC"/>
          </a:solidFill>
          <a:ln/>
        </p:spPr>
      </p:sp>
      <p:sp>
        <p:nvSpPr>
          <p:cNvPr id="17" name="Text 12"/>
          <p:cNvSpPr/>
          <p:nvPr/>
        </p:nvSpPr>
        <p:spPr>
          <a:xfrm>
            <a:off x="6492240" y="245973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S/N 14982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9509760" y="24597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56건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309360" y="2980944"/>
            <a:ext cx="5486400" cy="502920"/>
          </a:xfrm>
          <a:prstGeom prst="roundRect">
            <a:avLst>
              <a:gd name="adj" fmla="val 9091"/>
            </a:avLst>
          </a:prstGeom>
          <a:solidFill>
            <a:srgbClr val="F5F8FC"/>
          </a:solidFill>
          <a:ln/>
        </p:spPr>
      </p:sp>
      <p:sp>
        <p:nvSpPr>
          <p:cNvPr id="20" name="Text 15"/>
          <p:cNvSpPr/>
          <p:nvPr/>
        </p:nvSpPr>
        <p:spPr>
          <a:xfrm>
            <a:off x="6492240" y="30358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S/N 15031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9509760" y="303580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54건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6309360" y="3630168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TOP3 장비가 전체 고장수리(15,149건)의 1.3%를 차지 — 즉각 정밀진단 및 부품 교체 우선 검토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6309360" y="4215384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장애 요인 (Top Errors, '기타' 제외)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6309360" y="458114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불량 (QC)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9464040" y="4599432"/>
            <a:ext cx="1463040" cy="182880"/>
          </a:xfrm>
          <a:prstGeom prst="rect">
            <a:avLst/>
          </a:prstGeom>
          <a:solidFill>
            <a:srgbClr val="E69E0B"/>
          </a:solidFill>
          <a:ln/>
        </p:spPr>
      </p:sp>
      <p:sp>
        <p:nvSpPr>
          <p:cNvPr id="26" name="Text 21"/>
          <p:cNvSpPr/>
          <p:nvPr/>
        </p:nvSpPr>
        <p:spPr>
          <a:xfrm>
            <a:off x="11000232" y="45628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514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6309360" y="49651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RBC/HGB chamber not draining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9464040" y="4983480"/>
            <a:ext cx="472499" cy="182880"/>
          </a:xfrm>
          <a:prstGeom prst="rect">
            <a:avLst/>
          </a:prstGeom>
          <a:solidFill>
            <a:srgbClr val="E69E0B"/>
          </a:solidFill>
          <a:ln/>
        </p:spPr>
      </p:sp>
      <p:sp>
        <p:nvSpPr>
          <p:cNvPr id="29" name="Text 24"/>
          <p:cNvSpPr/>
          <p:nvPr/>
        </p:nvSpPr>
        <p:spPr>
          <a:xfrm>
            <a:off x="10009691" y="494690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6309360" y="5349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Chamber move error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9464040" y="5367528"/>
            <a:ext cx="452575" cy="182880"/>
          </a:xfrm>
          <a:prstGeom prst="rect">
            <a:avLst/>
          </a:prstGeom>
          <a:solidFill>
            <a:srgbClr val="E69E0B"/>
          </a:solidFill>
          <a:ln/>
        </p:spPr>
      </p:sp>
      <p:sp>
        <p:nvSpPr>
          <p:cNvPr id="32" name="Text 27"/>
          <p:cNvSpPr/>
          <p:nvPr/>
        </p:nvSpPr>
        <p:spPr>
          <a:xfrm>
            <a:off x="9989767" y="5330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159</a:t>
            </a:r>
            <a:endParaRPr lang="en-US" sz="1000" dirty="0"/>
          </a:p>
        </p:txBody>
      </p:sp>
      <p:sp>
        <p:nvSpPr>
          <p:cNvPr id="33" name="Text 28"/>
          <p:cNvSpPr/>
          <p:nvPr/>
        </p:nvSpPr>
        <p:spPr>
          <a:xfrm>
            <a:off x="6309360" y="57332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Water leak detected</a:t>
            </a:r>
            <a:endParaRPr lang="en-US" sz="1000" dirty="0"/>
          </a:p>
        </p:txBody>
      </p:sp>
      <p:sp>
        <p:nvSpPr>
          <p:cNvPr id="34" name="Shape 29"/>
          <p:cNvSpPr/>
          <p:nvPr/>
        </p:nvSpPr>
        <p:spPr>
          <a:xfrm>
            <a:off x="9464040" y="5751576"/>
            <a:ext cx="444035" cy="182880"/>
          </a:xfrm>
          <a:prstGeom prst="rect">
            <a:avLst/>
          </a:prstGeom>
          <a:solidFill>
            <a:srgbClr val="E69E0B"/>
          </a:solidFill>
          <a:ln/>
        </p:spPr>
      </p:sp>
      <p:sp>
        <p:nvSpPr>
          <p:cNvPr id="35" name="Text 30"/>
          <p:cNvSpPr/>
          <p:nvPr/>
        </p:nvSpPr>
        <p:spPr>
          <a:xfrm>
            <a:off x="9981227" y="57150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</a:t>
            </a:r>
            <a:endParaRPr lang="en-US" sz="1000" dirty="0"/>
          </a:p>
        </p:txBody>
      </p:sp>
      <p:sp>
        <p:nvSpPr>
          <p:cNvPr id="36" name="Text 31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37" name="Text 32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장비별 에러율 분석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5156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CRM 약속·활동 로그 40,000건 원자료 직접 집계 (취소 건 제외) · 에러율 = 고장 수리 건수 ÷ 전체 서비스 활동 건수 × 100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508760"/>
          <a:ext cx="64008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1371600"/>
                <a:gridCol w="10972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장비군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 활동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고장 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에러율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7413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 (Slide Preparation)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7413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4,436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7413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3,233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7413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72.9%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CN (Coagulation)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2,095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1,038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49.5%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HISCL (Immunoassay)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481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152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31.6%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XN/XR (Hematology)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19,119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5,292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27.7%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223760" y="15087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에러율 비교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7223760" y="1920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 (Slide Preparation)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7223760" y="2212848"/>
            <a:ext cx="3474720" cy="292608"/>
          </a:xfrm>
          <a:prstGeom prst="rect">
            <a:avLst/>
          </a:prstGeom>
          <a:solidFill>
            <a:srgbClr val="E7413E"/>
          </a:solidFill>
          <a:ln/>
        </p:spPr>
      </p:sp>
      <p:sp>
        <p:nvSpPr>
          <p:cNvPr id="11" name="Text 7"/>
          <p:cNvSpPr/>
          <p:nvPr/>
        </p:nvSpPr>
        <p:spPr>
          <a:xfrm>
            <a:off x="10789920" y="215798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72.9%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7223760" y="26974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 (Coagulation)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7223760" y="2990088"/>
            <a:ext cx="2359378" cy="292608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14" name="Text 10"/>
          <p:cNvSpPr/>
          <p:nvPr/>
        </p:nvSpPr>
        <p:spPr>
          <a:xfrm>
            <a:off x="9674578" y="293522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49.5%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223760" y="34747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HISCL (Immunoassay)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223760" y="3767328"/>
            <a:ext cx="1506189" cy="292608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17" name="Text 13"/>
          <p:cNvSpPr/>
          <p:nvPr/>
        </p:nvSpPr>
        <p:spPr>
          <a:xfrm>
            <a:off x="8821389" y="371246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31.6%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7223760" y="4251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XN/XR (Hematology)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223760" y="4544568"/>
            <a:ext cx="1320298" cy="292608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20" name="Text 16"/>
          <p:cNvSpPr/>
          <p:nvPr/>
        </p:nvSpPr>
        <p:spPr>
          <a:xfrm>
            <a:off x="8635498" y="448970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27.7%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530352" y="5166360"/>
            <a:ext cx="11100816" cy="1051560"/>
          </a:xfrm>
          <a:prstGeom prst="roundRect">
            <a:avLst>
              <a:gd name="adj" fmla="val 6087"/>
            </a:avLst>
          </a:prstGeom>
          <a:solidFill>
            <a:srgbClr val="E6EEF7"/>
          </a:solidFill>
          <a:ln/>
        </p:spPr>
      </p:sp>
      <p:sp>
        <p:nvSpPr>
          <p:cNvPr id="22" name="Text 18"/>
          <p:cNvSpPr/>
          <p:nvPr/>
        </p:nvSpPr>
        <p:spPr>
          <a:xfrm>
            <a:off x="731520" y="5285232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Insight: SP(도말표본 제작 장비) 계열의 에러율이 72.9%로 가장 높아 전체 서비스 활동의 대부분이 고장 수리로 발생하고 있습니다. CN(응고) 계열도 49.5%로 절반 수준이며, XN/XR(혈액) 계열은 27.7%로 상대적으로 안정적입니다. SP·CN 계열 우선 예방정비 강화가 필요합니다.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수집 정보 및 처리현황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188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수집 현황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30352" y="1554480"/>
            <a:ext cx="548640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6276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건수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13232" y="199339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30352" y="2542032"/>
            <a:ext cx="548640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261518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평점 (①신속성·일정 ②전문성·문제해결 ③고객응대·마무리)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13232" y="298094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30352" y="3529584"/>
            <a:ext cx="548640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14" name="Text 11"/>
          <p:cNvSpPr/>
          <p:nvPr/>
        </p:nvSpPr>
        <p:spPr>
          <a:xfrm>
            <a:off x="713232" y="360273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서술형 의견 분류 (심각·개선요청·칭찬·단순의견)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13232" y="396849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309360" y="1188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처리현황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554480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상태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처리완료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/>
          <p:nvPr/>
        </p:nvSpPr>
        <p:spPr>
          <a:xfrm>
            <a:off x="6309360" y="3703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소스: 방문 서비스 만족도 조사 자동 분석 시스템 (Google Forms + Apps Script, 팀별/개인별/직급별/지역별/월별 집계 및 기간별 보고서 자동 생성)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 이슈 처리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143000"/>
            <a:ext cx="11100816" cy="777240"/>
          </a:xfrm>
          <a:prstGeom prst="roundRect">
            <a:avLst>
              <a:gd name="adj" fmla="val 7059"/>
            </a:avLst>
          </a:prstGeom>
          <a:solidFill>
            <a:srgbClr val="E6EEF7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22529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레드 플래그 시스템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13232" y="153619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2점 이하 또는 서술형 "심각" 분류 건을 즉시 감지 → 분야별 전문가 TFT 구성 → SLA(1차 컨택 24~48시간) 내 처리하여 신뢰 회복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30352" y="2103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· 조치 · 종결 현황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30352" y="2468880"/>
            <a:ext cx="11100816" cy="3200400"/>
          </a:xfrm>
          <a:prstGeom prst="roundRect">
            <a:avLst>
              <a:gd name="adj" fmla="val 2286"/>
            </a:avLst>
          </a:prstGeom>
          <a:solidFill>
            <a:srgbClr val="E6EEF7"/>
          </a:solidFill>
          <a:ln w="9525">
            <a:solidFill>
              <a:srgbClr val="005BAC"/>
            </a:solidFill>
            <a:prstDash val="dash"/>
          </a:ln>
        </p:spPr>
      </p:sp>
      <p:sp>
        <p:nvSpPr>
          <p:cNvPr id="11" name="Text 8"/>
          <p:cNvSpPr/>
          <p:nvPr/>
        </p:nvSpPr>
        <p:spPr>
          <a:xfrm>
            <a:off x="530352" y="2468880"/>
            <a:ext cx="11100816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 교육 등 처리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188720"/>
            <a:ext cx="5394960" cy="2651760"/>
          </a:xfrm>
          <a:prstGeom prst="roundRect">
            <a:avLst>
              <a:gd name="adj" fmla="val 2069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7" name="Text 4"/>
          <p:cNvSpPr/>
          <p:nvPr/>
        </p:nvSpPr>
        <p:spPr>
          <a:xfrm>
            <a:off x="530352" y="1188720"/>
            <a:ext cx="5394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63640" y="1188720"/>
            <a:ext cx="5394960" cy="2651760"/>
          </a:xfrm>
          <a:prstGeom prst="roundRect">
            <a:avLst>
              <a:gd name="adj" fmla="val 2069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6263640" y="1188720"/>
            <a:ext cx="5394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30352" y="39776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263640" y="39776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30352" y="448056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대리점(에이전시) 대상 기술 교육, 서비스 프로세스 안내 등 처리 현황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직원교육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5156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Sysmex Technical Academy: 주니어 레벨 빠른 성장 및 Expert Engineer 육성 · Working Group: 4개 분야(Hema/Urine/Coa/Immuno) 전문성 강화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30352" y="1508760"/>
            <a:ext cx="5394960" cy="2468880"/>
          </a:xfrm>
          <a:prstGeom prst="roundRect">
            <a:avLst>
              <a:gd name="adj" fmla="val 2222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8" name="Text 5"/>
          <p:cNvSpPr/>
          <p:nvPr/>
        </p:nvSpPr>
        <p:spPr>
          <a:xfrm>
            <a:off x="530352" y="1508760"/>
            <a:ext cx="5394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63640" y="1508760"/>
            <a:ext cx="5394960" cy="2468880"/>
          </a:xfrm>
          <a:prstGeom prst="roundRect">
            <a:avLst>
              <a:gd name="adj" fmla="val 2222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6263640" y="1508760"/>
            <a:ext cx="5394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30352" y="41148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Technical Academy — 자료 미제공 – 추후 업데이트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263640" y="41148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Working Group — 자료 미제공 – 추후 업데이트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중심 서비스 하이라이트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2344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5F8FC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417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대응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13232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피드백 기반 개선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13232" y="2377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79392" y="12344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5F8FC"/>
          </a:solidFill>
          <a:ln/>
        </p:spPr>
      </p:sp>
      <p:sp>
        <p:nvSpPr>
          <p:cNvPr id="11" name="Text 8"/>
          <p:cNvSpPr/>
          <p:nvPr/>
        </p:nvSpPr>
        <p:spPr>
          <a:xfrm>
            <a:off x="4462272" y="1417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 이슈 대응력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462272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 준수 · 신속 종결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462272" y="2377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028432" y="12344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5F8FC"/>
          </a:solidFill>
          <a:ln/>
        </p:spPr>
      </p:sp>
      <p:sp>
        <p:nvSpPr>
          <p:cNvPr id="15" name="Text 12"/>
          <p:cNvSpPr/>
          <p:nvPr/>
        </p:nvSpPr>
        <p:spPr>
          <a:xfrm>
            <a:off x="8211312" y="1417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대리점/직원 역량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211312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 통한 서비스 품질 제고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11312" y="2377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30352" y="3520440"/>
            <a:ext cx="11100816" cy="2103120"/>
          </a:xfrm>
          <a:prstGeom prst="roundRect">
            <a:avLst>
              <a:gd name="adj" fmla="val 3478"/>
            </a:avLst>
          </a:prstGeom>
          <a:solidFill>
            <a:srgbClr val="E6EEF7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3657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중심 Insight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77240" y="402336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설치일정 스케쥴러 데이터 분석 결과 (2026년 7월): 강남차병원·강남차여성병원 프로젝트(XR-9000/XR-1000)는 담당 엔지니어(김세진)가 설치 → 평가 지원 → 이전설치까지 4건을 연속 담당해 책임 담당제의 고객 연속성을 보여주는 우수 사례입니다. 설치·이전설치 평균 소요기간은 1.25일로 신속하게 처리되었으나, FS South팀은 7월 설치 실적 0건으로 팀간 업무량 편차 확인이 필요합니다.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 Step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17320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280160" y="13258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8월 설치 파이프라인 대응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80160" y="170992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설치일정 스케쥴러 기준 8월 예정 16건(설치 9 · 평가 5 · 이전설치 2) 사전 리소스 배정 및 일정 조율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2587752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587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280160" y="249631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South팀 업무량 편차 점검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80160" y="28803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7월 설치 실적 0건 원인 파악 후 8월 배정 검토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3758184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3758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280160" y="3666744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 담당제 우수 사례 확산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280160" y="4050792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강남차병원 사례(담당 엔지니어 연속 대응)를 타 팀 벤치마킹 사례로 공유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4928616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49286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280160" y="4837176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미확보 데이터 확보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280160" y="522122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PM·A/S 실적, VOC 대시보드 연동 데이터 확보하여 다음 보고 시 KPI·VOC 항목 완성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2026-07-21T08:30:16Z</dcterms:created>
  <dcterms:modified xsi:type="dcterms:W3CDTF">2026-07-21T08:30:16Z</dcterms:modified>
</cp:coreProperties>
</file>