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11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pic>
        <p:nvPicPr>
          <p:cNvPr id="4" name="Image 0" descr="sysmex_logo_full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94360"/>
            <a:ext cx="182880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" y="237744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FSG 월간 서비스 활동 보고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978408" y="34015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중심(Customer-Centric) 서비스 운영 보고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78408" y="38862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7월 · FS Group / FSS Team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78408" y="53949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2026.07.25 · FS Group / FSS Team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0" y="6263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CF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for a better healthcare journey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 및 Executive Summary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29844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298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280160" y="1188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보고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280160" y="157276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설치·PM·A/S 실적 및 KPI 요약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12140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1214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280160" y="20116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설치 현황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280160" y="239572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구분 없이 모델(시리즈)별 설치 집계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294436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2944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2834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정보 및 처리현황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280160" y="321868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만족도 서베이 응답·유형별 처리 현황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376732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3767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280160" y="3657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처리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280160" y="40416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긴급/중대 VOC 접수·조치·종결 현황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8640" y="459028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4590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28016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 교육 등 처리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280160" y="486460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대리점(에이전시) 대상 기술·서비스 교육 현황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48640" y="541324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5413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280160" y="5303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직원교육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1280160" y="568756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및 사내 그룹 활동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보고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43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팀별 서비스 활동 실적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508760"/>
          <a:ext cx="10058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2377440"/>
                <a:gridCol w="146304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A/S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East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Huymori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John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Central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Eden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30352" y="3776472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건수는 신규 설치 기준(설치일정 관리 시트). 이전설치 4건 (FS East 3 · FS West 1), 장비 설치평가 4건 (SA팀 진행, FS팀 실적과 별도 집계)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530352" y="4160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요약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30352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11" name="Text 7"/>
          <p:cNvSpPr/>
          <p:nvPr/>
        </p:nvSpPr>
        <p:spPr>
          <a:xfrm>
            <a:off x="530352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재방문율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30352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530352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15% 이하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383280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15" name="Text 11"/>
          <p:cNvSpPr/>
          <p:nvPr/>
        </p:nvSpPr>
        <p:spPr>
          <a:xfrm>
            <a:off x="3383280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Uptime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3383280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383280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90% 이상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236208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19" name="Text 15"/>
          <p:cNvSpPr/>
          <p:nvPr/>
        </p:nvSpPr>
        <p:spPr>
          <a:xfrm>
            <a:off x="6236208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FTFR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236208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236208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지표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9089136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23" name="Text 19"/>
          <p:cNvSpPr/>
          <p:nvPr/>
        </p:nvSpPr>
        <p:spPr>
          <a:xfrm>
            <a:off x="9089136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배정율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9089136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9089136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100%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설치 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9728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7월 설치+이전설치 전체 16건 — 팀 구분 없이 모델(시리즈) 기준 집계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60020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 모델(시리즈)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비중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XR 시리즈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XN 시리즈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 시리즈 (Coagulation)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UN/UC 시리즈 (Urine)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SP/DI 시리즈 (도말표본)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85800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XR 시리즈 (Hematology)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6858000" y="1892808"/>
            <a:ext cx="4206240" cy="256032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10" name="Text 6"/>
          <p:cNvSpPr/>
          <p:nvPr/>
        </p:nvSpPr>
        <p:spPr>
          <a:xfrm>
            <a:off x="11155680" y="185623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7건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858000" y="22585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 시리즈 (Hematology)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0" y="2551176"/>
            <a:ext cx="3004457" cy="256032"/>
          </a:xfrm>
          <a:prstGeom prst="rect">
            <a:avLst/>
          </a:prstGeom>
          <a:solidFill>
            <a:srgbClr val="00B8EE"/>
          </a:solidFill>
          <a:ln/>
        </p:spPr>
      </p:sp>
      <p:sp>
        <p:nvSpPr>
          <p:cNvPr id="13" name="Text 9"/>
          <p:cNvSpPr/>
          <p:nvPr/>
        </p:nvSpPr>
        <p:spPr>
          <a:xfrm>
            <a:off x="9953897" y="25146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5건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858000" y="291693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 시리즈 (Coagulation)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858000" y="3209544"/>
            <a:ext cx="1201783" cy="256032"/>
          </a:xfrm>
          <a:prstGeom prst="rect">
            <a:avLst/>
          </a:prstGeom>
          <a:solidFill>
            <a:srgbClr val="3FBA46"/>
          </a:solidFill>
          <a:ln/>
        </p:spPr>
      </p:sp>
      <p:sp>
        <p:nvSpPr>
          <p:cNvPr id="16" name="Text 12"/>
          <p:cNvSpPr/>
          <p:nvPr/>
        </p:nvSpPr>
        <p:spPr>
          <a:xfrm>
            <a:off x="8151223" y="317296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2건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858000" y="35753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UN/UC 시리즈 (Urine)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858000" y="3867912"/>
            <a:ext cx="600891" cy="256032"/>
          </a:xfrm>
          <a:prstGeom prst="rect">
            <a:avLst/>
          </a:prstGeom>
          <a:solidFill>
            <a:srgbClr val="7E49DC"/>
          </a:solidFill>
          <a:ln/>
        </p:spPr>
      </p:sp>
      <p:sp>
        <p:nvSpPr>
          <p:cNvPr id="19" name="Text 15"/>
          <p:cNvSpPr/>
          <p:nvPr/>
        </p:nvSpPr>
        <p:spPr>
          <a:xfrm>
            <a:off x="7550331" y="383133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1건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6858000" y="42336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SP/DI 시리즈 (도말표본)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858000" y="4526280"/>
            <a:ext cx="600891" cy="256032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2" name="Text 18"/>
          <p:cNvSpPr/>
          <p:nvPr/>
        </p:nvSpPr>
        <p:spPr>
          <a:xfrm>
            <a:off x="7550331" y="448970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1건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530352" y="512064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설치일정 관리 시트 (2026년 7월, 설치+이전설치 전체 대상, 원본 모델명을 시리즈 단위로 그룹핑)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정보 및 처리현황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현황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30352" y="1554480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건수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19933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30352" y="2542032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26151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평점 (①신속성·일정 ②전문성·문제해결 ③고객응대·마무리)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29809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0352" y="3529584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4" name="Text 11"/>
          <p:cNvSpPr/>
          <p:nvPr/>
        </p:nvSpPr>
        <p:spPr>
          <a:xfrm>
            <a:off x="713232" y="360273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서술형 의견 분류 (심각·개선요청·칭찬·단순의견)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13232" y="396849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309360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처리현황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처리완료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/>
          <p:nvPr/>
        </p:nvSpPr>
        <p:spPr>
          <a:xfrm>
            <a:off x="6309360" y="3703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방문 서비스 만족도 조사 자동 분석 시스템 (Google Forms + Apps Script, 팀별/개인별/직급별/지역별/월별 집계 및 기간별 보고서 자동 생성)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처리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43000"/>
            <a:ext cx="11100816" cy="777240"/>
          </a:xfrm>
          <a:prstGeom prst="roundRect">
            <a:avLst>
              <a:gd name="adj" fmla="val 7059"/>
            </a:avLst>
          </a:prstGeom>
          <a:solidFill>
            <a:srgbClr val="E6EEF7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2252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레드 플래그 시스템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13232" y="153619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2점 이하 또는 서술형 "심각" 분류 건을 즉시 감지 → 분야별 전문가 TFT 구성 → SLA(1차 컨택 24~48시간) 내 처리하여 신뢰 회복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30352" y="2103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· 조치 · 종결 현황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30352" y="2468880"/>
            <a:ext cx="11100816" cy="3200400"/>
          </a:xfrm>
          <a:prstGeom prst="roundRect">
            <a:avLst>
              <a:gd name="adj" fmla="val 2286"/>
            </a:avLst>
          </a:prstGeom>
          <a:solidFill>
            <a:srgbClr val="E6EEF7"/>
          </a:solidFill>
          <a:ln w="9525">
            <a:solidFill>
              <a:srgbClr val="005BAC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530352" y="2468880"/>
            <a:ext cx="1110081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 교육 등 처리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530352" y="118872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63640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6263640" y="118872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263640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0352" y="4480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대리점(에이전시) 대상 기술 교육, 서비스 프로세스 안내 등 처리 현황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직원교육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Sysmex Technical Academy: 주니어 레벨 빠른 성장 및 Expert Engineer 육성 · Working Group: 4개 분야(Hema/Urine/Coa/Immuno) 전문성 강화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30352" y="1508760"/>
            <a:ext cx="5394960" cy="2468880"/>
          </a:xfrm>
          <a:prstGeom prst="roundRect">
            <a:avLst>
              <a:gd name="adj" fmla="val 2222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530352" y="1508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1508760"/>
            <a:ext cx="5394960" cy="2468880"/>
          </a:xfrm>
          <a:prstGeom prst="roundRect">
            <a:avLst>
              <a:gd name="adj" fmla="val 2222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6263640" y="1508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30352" y="4114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— 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263640" y="4114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Working Group — 자료 미제공 – 추후 업데이트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 서비스 하이라이트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대응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1323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피드백 기반 개선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7939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446227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대응력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46227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준수 · 신속 종결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46227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2843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대리점/직원 역량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1131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통한 서비스 품질 제고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1131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0352" y="3520440"/>
            <a:ext cx="11100816" cy="2103120"/>
          </a:xfrm>
          <a:prstGeom prst="roundRect">
            <a:avLst>
              <a:gd name="adj" fmla="val 3478"/>
            </a:avLst>
          </a:prstGeom>
          <a:solidFill>
            <a:srgbClr val="E6EEF7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657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 Insight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77240" y="402336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Step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234440"/>
            <a:ext cx="11100816" cy="4480560"/>
          </a:xfrm>
          <a:prstGeom prst="roundRect">
            <a:avLst>
              <a:gd name="adj" fmla="val 1633"/>
            </a:avLst>
          </a:prstGeom>
          <a:solidFill>
            <a:srgbClr val="E6EEF7"/>
          </a:solidFill>
          <a:ln w="9525">
            <a:solidFill>
              <a:srgbClr val="005BAC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530352" y="1234440"/>
            <a:ext cx="11100816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2026-07-20T23:16:55Z</dcterms:created>
  <dcterms:modified xsi:type="dcterms:W3CDTF">2026-07-20T23:16:55Z</dcterms:modified>
</cp:coreProperties>
</file>