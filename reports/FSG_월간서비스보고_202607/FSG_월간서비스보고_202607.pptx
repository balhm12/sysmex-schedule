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1148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4" name="Image 0" descr="sysmex_logo_full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182880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" y="23774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FSG 월간 서비스 활동 보고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78408" y="3401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중심(Customer-Centric) 서비스 운영 보고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78408" y="38862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· FS Group / FSS Team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78408" y="5394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2026.07.25 · FS Group / FSS Team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6263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for a better healthcare journey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및 Executive Summary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344168"/>
            <a:ext cx="502920" cy="502920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활동 보고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16184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설치·PM·A/S 실적 및 KPI 요약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304288"/>
            <a:ext cx="502920" cy="502920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016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수집 정보 및 처리현황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80160" y="25786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만족도 서베이 응답·유형별 처리 현황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502920" cy="502920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80160" y="3154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이슈 처리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80160" y="3538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긴급/중대 VOC 접수·조치·종결 현황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224528"/>
            <a:ext cx="502920" cy="502920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24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016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 교육 등 처리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80160" y="44988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대리점(에이전시) 대상 기술·서비스 교육 현황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8016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직원교육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280160" y="5458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Academy 및 사내 그룹 활동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활동 보고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서비스 활동 실적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508760"/>
          <a:ext cx="10058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2377440"/>
                <a:gridCol w="1463040"/>
                <a:gridCol w="146304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A/S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 East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 West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Huymori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 South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John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 Central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Eden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30352" y="4160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요약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30352" y="45262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5F8F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재방문율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0352" y="4956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30352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15% 이하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383280" y="45262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5F8FC"/>
          </a:solidFill>
          <a:ln/>
        </p:spPr>
      </p:sp>
      <p:sp>
        <p:nvSpPr>
          <p:cNvPr id="14" name="Text 10"/>
          <p:cNvSpPr/>
          <p:nvPr/>
        </p:nvSpPr>
        <p:spPr>
          <a:xfrm>
            <a:off x="3383280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4956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8328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90% 이상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36208" y="45262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5F8FC"/>
          </a:solidFill>
          <a:ln/>
        </p:spPr>
      </p:sp>
      <p:sp>
        <p:nvSpPr>
          <p:cNvPr id="18" name="Text 14"/>
          <p:cNvSpPr/>
          <p:nvPr/>
        </p:nvSpPr>
        <p:spPr>
          <a:xfrm>
            <a:off x="6236208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FTFR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236208" y="4956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236208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지표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089136" y="4526280"/>
            <a:ext cx="2651760" cy="1463040"/>
          </a:xfrm>
          <a:prstGeom prst="roundRect">
            <a:avLst>
              <a:gd name="adj" fmla="val 4375"/>
            </a:avLst>
          </a:prstGeom>
          <a:solidFill>
            <a:srgbClr val="F5F8FC"/>
          </a:solidFill>
          <a:ln/>
        </p:spPr>
      </p:sp>
      <p:sp>
        <p:nvSpPr>
          <p:cNvPr id="22" name="Text 18"/>
          <p:cNvSpPr/>
          <p:nvPr/>
        </p:nvSpPr>
        <p:spPr>
          <a:xfrm>
            <a:off x="9089136" y="4645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배정율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089136" y="49560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089136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100%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수집 정보 및 처리현황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수집 현황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0352" y="1554480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건수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0352" y="2542032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6151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평점 (①신속성·일정 ②전문성·문제해결 ③고객응대·마무리)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29809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" y="3529584"/>
            <a:ext cx="548640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360273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서술형 의견 분류 (심각·개선요청·칭찬·단순의견)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" y="396849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처리현황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처리완료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3F3F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미제공 – 추후 업데이트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630936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소스: 방문 서비스 만족도 조사 자동 분석 시스템 (Google Forms + Apps Script, 팀별/개인별/직급별/지역별/월별 집계 및 기간별 보고서 자동 생성)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이슈 처리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143000"/>
            <a:ext cx="11100816" cy="777240"/>
          </a:xfrm>
          <a:prstGeom prst="roundRect">
            <a:avLst>
              <a:gd name="adj" fmla="val 7059"/>
            </a:avLst>
          </a:prstGeom>
          <a:solidFill>
            <a:srgbClr val="E6EEF7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225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레드 플래그 시스템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15361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2점 이하 또는 서술형 "심각" 분류 건을 즉시 감지 → 분야별 전문가 TFT 구성 → SLA(1차 컨택 24~48시간) 내 처리하여 신뢰 회복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· 조치 · 종결 현황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30352" y="2468880"/>
            <a:ext cx="11100816" cy="3200400"/>
          </a:xfrm>
          <a:prstGeom prst="roundRect">
            <a:avLst>
              <a:gd name="adj" fmla="val 2286"/>
            </a:avLst>
          </a:prstGeom>
          <a:solidFill>
            <a:srgbClr val="E6EEF7"/>
          </a:solidFill>
          <a:ln w="9525">
            <a:solidFill>
              <a:srgbClr val="005BA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30352" y="2468880"/>
            <a:ext cx="111008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 교육 등 처리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18872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EFEFEF"/>
          </a:solidFill>
          <a:ln w="9525">
            <a:solidFill>
              <a:srgbClr val="9E9E9E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30352" y="11887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 (Placeholder)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18872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EFEFEF"/>
          </a:solidFill>
          <a:ln w="9525">
            <a:solidFill>
              <a:srgbClr val="9E9E9E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6263640" y="11887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 (Placeholder)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640" y="3977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4480560"/>
            <a:ext cx="1110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대리점(에이전시) 대상 기술 교육, 서비스 프로세스 안내 등 처리 현황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직원교육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1051560"/>
            <a:ext cx="1110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Sysmex Technical Academy: 주니어 레벨 빠른 성장 및 Expert Engineer 육성 · Working Group: 4개 분야(Hema/Urine/Coa/Immuno) 전문성 강화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0352" y="150876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EFEFEF"/>
          </a:solidFill>
          <a:ln w="9525">
            <a:solidFill>
              <a:srgbClr val="9E9E9E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530352" y="150876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 (Placeholder)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94960" cy="2468880"/>
          </a:xfrm>
          <a:prstGeom prst="roundRect">
            <a:avLst>
              <a:gd name="adj" fmla="val 2222"/>
            </a:avLst>
          </a:prstGeom>
          <a:solidFill>
            <a:srgbClr val="EFEFEF"/>
          </a:solidFill>
          <a:ln w="9525">
            <a:solidFill>
              <a:srgbClr val="9E9E9E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6263640" y="150876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 (Placeholder)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0352" y="4114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Technical Academy — 자료 미제공 – 추후 업데이트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63640" y="4114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Working Group — 자료 미제공 – 추후 업데이트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중심 서비스 하이라이트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344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8FC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VOC 대응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피드백 기반 개선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9392" y="12344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8FC"/>
          </a:solidFill>
          <a:ln/>
        </p:spPr>
      </p:sp>
      <p:sp>
        <p:nvSpPr>
          <p:cNvPr id="11" name="Text 8"/>
          <p:cNvSpPr/>
          <p:nvPr/>
        </p:nvSpPr>
        <p:spPr>
          <a:xfrm>
            <a:off x="446227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중대 이슈 대응력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46227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준수 · 신속 종결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62272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28432" y="123444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8FC"/>
          </a:solidFill>
          <a:ln/>
        </p:spPr>
      </p:sp>
      <p:sp>
        <p:nvSpPr>
          <p:cNvPr id="15" name="Text 12"/>
          <p:cNvSpPr/>
          <p:nvPr/>
        </p:nvSpPr>
        <p:spPr>
          <a:xfrm>
            <a:off x="821131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대리점/직원 역량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11312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3F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통한 서비스 품질 제고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11312" y="2377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30352" y="3520440"/>
            <a:ext cx="11100816" cy="2103120"/>
          </a:xfrm>
          <a:prstGeom prst="roundRect">
            <a:avLst>
              <a:gd name="adj" fmla="val 3478"/>
            </a:avLst>
          </a:prstGeom>
          <a:solidFill>
            <a:srgbClr val="E6EEF7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중심 Insight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40233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8440" cy="914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822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34440" y="164592"/>
            <a:ext cx="859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2600" dirty="0"/>
          </a:p>
        </p:txBody>
      </p:sp>
      <p:pic>
        <p:nvPicPr>
          <p:cNvPr id="5" name="Image 0" descr="sysmex_logo_mono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292608"/>
            <a:ext cx="1097280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34440"/>
            <a:ext cx="11100816" cy="4480560"/>
          </a:xfrm>
          <a:prstGeom prst="roundRect">
            <a:avLst>
              <a:gd name="adj" fmla="val 1633"/>
            </a:avLst>
          </a:prstGeom>
          <a:solidFill>
            <a:srgbClr val="E6EEF7"/>
          </a:solidFill>
          <a:ln w="9525">
            <a:solidFill>
              <a:srgbClr val="005BA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30352" y="1234440"/>
            <a:ext cx="1110081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5B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미제공 – 추후 업데이트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 Group │ FSS Team · 2026년 7월 ·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471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2026-07-20T22:48:50Z</dcterms:created>
  <dcterms:modified xsi:type="dcterms:W3CDTF">2026-07-20T22:48:50Z</dcterms:modified>
</cp:coreProperties>
</file>