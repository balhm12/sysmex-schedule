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34416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344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618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468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80160" y="28529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구분 없이 모델(시리즈)별 설치 집계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81304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813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703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80160" y="40873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추이·서비스 목적별 비율·예방정비 지수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504748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5047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937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532180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TOP5·반복 장애 장비·주요 장애 요인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63640" y="134416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6263640" y="1344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99516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995160" y="1618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263640" y="257860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7" name="Text 24"/>
          <p:cNvSpPr/>
          <p:nvPr/>
        </p:nvSpPr>
        <p:spPr>
          <a:xfrm>
            <a:off x="6263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6995160" y="2468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995160" y="28529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263640" y="381304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1" name="Text 28"/>
          <p:cNvSpPr/>
          <p:nvPr/>
        </p:nvSpPr>
        <p:spPr>
          <a:xfrm>
            <a:off x="6263640" y="3813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6995160" y="3703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6995160" y="40873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263640" y="504748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5" name="Text 32"/>
          <p:cNvSpPr/>
          <p:nvPr/>
        </p:nvSpPr>
        <p:spPr>
          <a:xfrm>
            <a:off x="6263640" y="5047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6995160" y="4937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995160" y="532180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10058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23774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Huymori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John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Eden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77647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건수는 신규 설치 기준(설치일정 관리 시트). 이전설치 4건 (FS East 3 · FS West 1), 장비 설치평가 4건 (SA팀 진행, FS팀 실적과 별도 집계)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30352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1" name="Text 7"/>
          <p:cNvSpPr/>
          <p:nvPr/>
        </p:nvSpPr>
        <p:spPr>
          <a:xfrm>
            <a:off x="530352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재방문율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30352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30352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15% 이하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383280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5" name="Text 11"/>
          <p:cNvSpPr/>
          <p:nvPr/>
        </p:nvSpPr>
        <p:spPr>
          <a:xfrm>
            <a:off x="3383280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383280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383280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90% 이상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36208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9" name="Text 15"/>
          <p:cNvSpPr/>
          <p:nvPr/>
        </p:nvSpPr>
        <p:spPr>
          <a:xfrm>
            <a:off x="6236208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236208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236208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089136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23" name="Text 19"/>
          <p:cNvSpPr/>
          <p:nvPr/>
        </p:nvSpPr>
        <p:spPr>
          <a:xfrm>
            <a:off x="9089136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배정율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9089136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9089136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100%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9728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설치+이전설치 전체 16건 — 팀 구분 없이 모델(시리즈) 기준 집계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60020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모델(시리즈)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XR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 시리즈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UN/UC 시리즈 (Urine)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SP/DI 시리즈 (도말표본)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 시리즈 (Hematology)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892808"/>
            <a:ext cx="4206240" cy="256032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0" name="Text 6"/>
          <p:cNvSpPr/>
          <p:nvPr/>
        </p:nvSpPr>
        <p:spPr>
          <a:xfrm>
            <a:off x="11155680" y="18562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858000" y="2258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 시리즈 (Hematology)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2551176"/>
            <a:ext cx="3004457" cy="256032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13" name="Text 9"/>
          <p:cNvSpPr/>
          <p:nvPr/>
        </p:nvSpPr>
        <p:spPr>
          <a:xfrm>
            <a:off x="9953897" y="2514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5건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858000" y="2916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 시리즈 (Coagulation)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3209544"/>
            <a:ext cx="1201783" cy="256032"/>
          </a:xfrm>
          <a:prstGeom prst="rect">
            <a:avLst/>
          </a:prstGeom>
          <a:solidFill>
            <a:srgbClr val="3FBA46"/>
          </a:solidFill>
          <a:ln/>
        </p:spPr>
      </p:sp>
      <p:sp>
        <p:nvSpPr>
          <p:cNvPr id="16" name="Text 12"/>
          <p:cNvSpPr/>
          <p:nvPr/>
        </p:nvSpPr>
        <p:spPr>
          <a:xfrm>
            <a:off x="8151223" y="31729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0" y="3575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UN/UC 시리즈 (Urine)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0" y="3867912"/>
            <a:ext cx="600891" cy="256032"/>
          </a:xfrm>
          <a:prstGeom prst="rect">
            <a:avLst/>
          </a:prstGeom>
          <a:solidFill>
            <a:srgbClr val="7E49DC"/>
          </a:solidFill>
          <a:ln/>
        </p:spPr>
      </p:sp>
      <p:sp>
        <p:nvSpPr>
          <p:cNvPr id="19" name="Text 15"/>
          <p:cNvSpPr/>
          <p:nvPr/>
        </p:nvSpPr>
        <p:spPr>
          <a:xfrm>
            <a:off x="7550331" y="383133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0" y="4233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SP/DI 시리즈 (도말표본)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858000" y="4526280"/>
            <a:ext cx="600891" cy="256032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2" name="Text 18"/>
          <p:cNvSpPr/>
          <p:nvPr/>
        </p:nvSpPr>
        <p:spPr>
          <a:xfrm>
            <a:off x="7550331" y="448970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30352" y="512064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설치일정 관리 시트 (2026년 7월, 설치+이전설치 전체 대상, 원본 모델명을 시리즈 단위로 그룹핑)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 – 추이 및 지수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 (월간 서비스 활동 실적과 별도 참고 지표)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Service Case 추이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0352" y="187452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84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· 2026년 6월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49040" y="19476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2,425건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30352" y="292608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2026년 2월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9992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1,449건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530352" y="4069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지속적인 증가·변동 추세를 보이며, 계절/이벤트에 따른 월별 편차가 존재합니다.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목적별 비율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09360" y="1874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수리 (Breakdown Repair)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09360" y="2130552"/>
            <a:ext cx="3108960" cy="182880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8" name="Text 15"/>
          <p:cNvSpPr/>
          <p:nvPr/>
        </p:nvSpPr>
        <p:spPr>
          <a:xfrm>
            <a:off x="950976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15,149건 · 37.9%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2404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 (정기 점검)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309360" y="2660904"/>
            <a:ext cx="3059742" cy="18288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1" name="Text 18"/>
          <p:cNvSpPr/>
          <p:nvPr/>
        </p:nvSpPr>
        <p:spPr>
          <a:xfrm>
            <a:off x="950976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14,904건 · 37.3%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309360" y="29352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Calibration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309360" y="3191256"/>
            <a:ext cx="1164835" cy="182880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24" name="Text 21"/>
          <p:cNvSpPr/>
          <p:nvPr/>
        </p:nvSpPr>
        <p:spPr>
          <a:xfrm>
            <a:off x="9509760" y="29352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5,699건 · 14.2%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309360" y="34655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309360" y="3721608"/>
            <a:ext cx="869524" cy="182880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27" name="Text 24"/>
          <p:cNvSpPr/>
          <p:nvPr/>
        </p:nvSpPr>
        <p:spPr>
          <a:xfrm>
            <a:off x="9509760" y="3465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309360" y="4114800"/>
            <a:ext cx="5486400" cy="1371600"/>
          </a:xfrm>
          <a:prstGeom prst="roundRect">
            <a:avLst>
              <a:gd name="adj" fmla="val 4667"/>
            </a:avLst>
          </a:prstGeom>
          <a:solidFill>
            <a:srgbClr val="E6EEF7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4224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예방정비 지수 (PM Ratio)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2688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49.6%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6492240" y="4617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PM건수 ÷ (PM+고장수리) × 100. PM과 고장수리 비율이 팽팽히 맞서고 있어, 예방점검 품질을 높여 사후 고장수리 비율을 낮추는 전략이 필요합니다.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 5 (서비스 활동 기준)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66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의료법인녹십자의료재단 (용인)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서울의과학연구소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서울아산병원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이원의료재단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씨젠의료재단 (서울)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30352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 생산성 TOP 5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30352" y="443484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7"/>
          <p:cNvSpPr/>
          <p:nvPr/>
        </p:nvSpPr>
        <p:spPr>
          <a:xfrm>
            <a:off x="530352" y="443484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장애 장비 TOP 3 (Proactive Service 1순위 대상)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309360" y="1828800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CE9E8"/>
          </a:solidFill>
          <a:ln/>
        </p:spPr>
      </p:sp>
      <p:sp>
        <p:nvSpPr>
          <p:cNvPr id="14" name="Text 10"/>
          <p:cNvSpPr/>
          <p:nvPr/>
        </p:nvSpPr>
        <p:spPr>
          <a:xfrm>
            <a:off x="6492240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9509760" y="18836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92건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309360" y="2404872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17" name="Text 13"/>
          <p:cNvSpPr/>
          <p:nvPr/>
        </p:nvSpPr>
        <p:spPr>
          <a:xfrm>
            <a:off x="6492240" y="24597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14982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9509760" y="2459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56건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309360" y="2980944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20" name="Text 16"/>
          <p:cNvSpPr/>
          <p:nvPr/>
        </p:nvSpPr>
        <p:spPr>
          <a:xfrm>
            <a:off x="6492240" y="3035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15031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9509760" y="30358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54건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309360" y="363016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TOP3 장비가 전체 고장수리(15,149건)의 1.3%를 차지 — 즉각 정밀진단 및 부품 교체 우선 검토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309360" y="421538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장애 요인 (Top Errors, '기타' 제외)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309360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불량 (QC)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9464040" y="4599432"/>
            <a:ext cx="1463040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6" name="Text 22"/>
          <p:cNvSpPr/>
          <p:nvPr/>
        </p:nvSpPr>
        <p:spPr>
          <a:xfrm>
            <a:off x="11000232" y="45628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514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09360" y="4965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RBC/HGB chamber not draining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9464040" y="4983480"/>
            <a:ext cx="472499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9" name="Text 25"/>
          <p:cNvSpPr/>
          <p:nvPr/>
        </p:nvSpPr>
        <p:spPr>
          <a:xfrm>
            <a:off x="10009691" y="4946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09360" y="5349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Chamber move error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9464040" y="5367528"/>
            <a:ext cx="45257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2" name="Text 28"/>
          <p:cNvSpPr/>
          <p:nvPr/>
        </p:nvSpPr>
        <p:spPr>
          <a:xfrm>
            <a:off x="9989767" y="5330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09360" y="5733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Water leak detected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9464040" y="5751576"/>
            <a:ext cx="44403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5" name="Text 31"/>
          <p:cNvSpPr/>
          <p:nvPr/>
        </p:nvSpPr>
        <p:spPr>
          <a:xfrm>
            <a:off x="9981227" y="5715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(①신속성·일정 ②전문성·문제해결 ③고객응대·마무리)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서술형 의견 분류 (심각·개선요청·칭찬·단순의견)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방문 서비스 만족도 조사 자동 분석 시스템 (Google Forms + Apps Script, 팀별/개인별/직급별/지역별/월별 집계 및 기간별 보고서 자동 생성)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조치 · 종결 현황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3200400"/>
          </a:xfrm>
          <a:prstGeom prst="roundRect">
            <a:avLst>
              <a:gd name="adj" fmla="val 2286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30352" y="2468880"/>
            <a:ext cx="1110081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CRM 데이터 분석 결과 (2026년 7월): 강남차병원·강남차여성병원 프로젝트(XR-9000/XR-1000)는 담당 엔지니어(Martin)가 설치 → 평가 지원 → 이전설치까지 4건을 연속 담당해 책임 담당제의 고객 연속성을 보여주는 우수 사례입니다. 설치·이전설치 평균 소요기간은 1.25일로 신속하게 처리되었으나, FS South팀은 7월 설치 실적 0건으로 팀간 업무량 편차 확인이 필요합니다.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325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설치 파이프라인 대응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7099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CRM 기준 8월 예정 16건(설치 9 · 평가 5 · 이전설치 2) 사전 리소스 배정 및 일정 조율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496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South팀 업무량 편차 점검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80160" y="28803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설치 실적 0건 원인 파악 후 8월 배정 검토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66674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담당제 우수 사례 확산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80160" y="40507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강남차병원 사례(담당 엔지니어 연속 대응)를 타 팀 벤치마킹 사례로 공유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8371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미확보 데이터 확보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522122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PM·A/S 실적, VOC 대시보드 연동 데이터 확보하여 다음 보고 시 KPI·VOC 항목 완성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2026-07-21T06:42:00Z</dcterms:created>
  <dcterms:modified xsi:type="dcterms:W3CDTF">2026-07-21T06:42:00Z</dcterms:modified>
</cp:coreProperties>
</file>