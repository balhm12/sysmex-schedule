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07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07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07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07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07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07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추이·서비스 목적별 비율·예방정비 지수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07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TOP5·반복 장애 장비·주요 장애 요인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07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207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XN/XR·CN·SP·HISCL 계열별 에러율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6263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922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922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63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1" name="Text 28"/>
          <p:cNvSpPr/>
          <p:nvPr/>
        </p:nvSpPr>
        <p:spPr>
          <a:xfrm>
            <a:off x="6263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922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22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263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5" name="Text 32"/>
          <p:cNvSpPr/>
          <p:nvPr/>
        </p:nvSpPr>
        <p:spPr>
          <a:xfrm>
            <a:off x="6263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922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22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9" name="Text 36"/>
          <p:cNvSpPr/>
          <p:nvPr/>
        </p:nvSpPr>
        <p:spPr>
          <a:xfrm>
            <a:off x="6263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922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22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10058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23774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Huymori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John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Eden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530352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30352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30352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383280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5" name="Text 11"/>
          <p:cNvSpPr/>
          <p:nvPr/>
        </p:nvSpPr>
        <p:spPr>
          <a:xfrm>
            <a:off x="3383280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383280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383280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36208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9" name="Text 15"/>
          <p:cNvSpPr/>
          <p:nvPr/>
        </p:nvSpPr>
        <p:spPr>
          <a:xfrm>
            <a:off x="6236208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236208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236208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089136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23" name="Text 19"/>
          <p:cNvSpPr/>
          <p:nvPr/>
        </p:nvSpPr>
        <p:spPr>
          <a:xfrm>
            <a:off x="9089136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9089136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9089136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 – 추이 및 지수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 (월간 서비스 활동 실적과 별도 참고 지표)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Service Case 추이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187452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84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· 2026년 6월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49040" y="19476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2,425건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30352" y="292608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2026년 2월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999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1,449건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30352" y="4069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지속적인 증가·변동 추세를 보이며, 계절/이벤트에 따른 월별 편차가 존재합니다.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목적별 비율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0936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수리 (Breakdown Repair)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09360" y="2130552"/>
            <a:ext cx="3108960" cy="182880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8" name="Text 15"/>
          <p:cNvSpPr/>
          <p:nvPr/>
        </p:nvSpPr>
        <p:spPr>
          <a:xfrm>
            <a:off x="950976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15,149건 · 37.9%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2404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(정기 점검)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09360" y="2660904"/>
            <a:ext cx="3059742" cy="18288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1" name="Text 18"/>
          <p:cNvSpPr/>
          <p:nvPr/>
        </p:nvSpPr>
        <p:spPr>
          <a:xfrm>
            <a:off x="950976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14,904건 · 37.3%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309360" y="29352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Calibration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309360" y="3191256"/>
            <a:ext cx="1164835" cy="182880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24" name="Text 21"/>
          <p:cNvSpPr/>
          <p:nvPr/>
        </p:nvSpPr>
        <p:spPr>
          <a:xfrm>
            <a:off x="9509760" y="29352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5,699건 · 14.2%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309360" y="34655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309360" y="3721608"/>
            <a:ext cx="869524" cy="182880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27" name="Text 24"/>
          <p:cNvSpPr/>
          <p:nvPr/>
        </p:nvSpPr>
        <p:spPr>
          <a:xfrm>
            <a:off x="9509760" y="3465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309360" y="411480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E6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4224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예방정비 지수 (PM Ratio)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2688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49.6%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6492240" y="4617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PM건수 ÷ (PM+고장수리) × 100. PM과 고장수리 비율이 팽팽히 맞서고 있어, 예방점검 품질을 높여 사후 고장수리 비율을 낮추는 전략이 필요합니다.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 5 (서비스 활동 기준)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의료법인녹십자의료재단 (용인)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서울의과학연구소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서울아산병원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이원의료재단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씨젠의료재단 (서울)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30352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생산성 TOP 5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443484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1188720"/>
                <a:gridCol w="118872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고장수리%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이인구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1727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2760h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44.4%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37.6%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조수호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1469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2081h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19.7%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49.4%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김태현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2101h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29.7%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37.2%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박석영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2005h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49.9%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이준민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2713h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30.9%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30352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CRM 약속·활동 로그 (담당자·시작/종료시간 기준, 취소 건 제외)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장애 장비 TOP 3 (Proactive Service 1순위 대상)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09360" y="1828800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CE9E8"/>
          </a:solidFill>
          <a:ln/>
        </p:spPr>
      </p:sp>
      <p:sp>
        <p:nvSpPr>
          <p:cNvPr id="14" name="Text 9"/>
          <p:cNvSpPr/>
          <p:nvPr/>
        </p:nvSpPr>
        <p:spPr>
          <a:xfrm>
            <a:off x="6492240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9509760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92건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309360" y="2404872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17" name="Text 12"/>
          <p:cNvSpPr/>
          <p:nvPr/>
        </p:nvSpPr>
        <p:spPr>
          <a:xfrm>
            <a:off x="6492240" y="24597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14982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9509760" y="2459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56건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309360" y="2980944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20" name="Text 15"/>
          <p:cNvSpPr/>
          <p:nvPr/>
        </p:nvSpPr>
        <p:spPr>
          <a:xfrm>
            <a:off x="6492240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15031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509760" y="30358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54건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309360" y="363016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TOP3 장비가 전체 고장수리(15,149건)의 1.3%를 차지 — 즉각 정밀진단 및 부품 교체 우선 검토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309360" y="42153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장애 요인 (Top Errors, '기타' 제외)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3093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불량 (QC)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464040" y="4599432"/>
            <a:ext cx="1463040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6" name="Text 21"/>
          <p:cNvSpPr/>
          <p:nvPr/>
        </p:nvSpPr>
        <p:spPr>
          <a:xfrm>
            <a:off x="11000232" y="4562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630936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RBC/HGB chamber not draining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9464040" y="4983480"/>
            <a:ext cx="472499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009691" y="4946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30936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Chamber move error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9464040" y="5367528"/>
            <a:ext cx="45257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2" name="Text 27"/>
          <p:cNvSpPr/>
          <p:nvPr/>
        </p:nvSpPr>
        <p:spPr>
          <a:xfrm>
            <a:off x="9989767" y="5330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3093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Water leak detected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9464040" y="5751576"/>
            <a:ext cx="44403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5" name="Text 30"/>
          <p:cNvSpPr/>
          <p:nvPr/>
        </p:nvSpPr>
        <p:spPr>
          <a:xfrm>
            <a:off x="9981227" y="5715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약속·활동 로그 40,000건 원자료 직접 집계 (취소 건 제외) · 에러율 = 고장 수리 건수 ÷ 전체 서비스 활동 건수 × 100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3716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에러율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 (Slide Preparation)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4,436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3,233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72.9%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1,038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HISCL (Immunoassay)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XN/XR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19,119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5,292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27.7%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22376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에러율 비교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22376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 (Slide Preparation)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223760" y="2212848"/>
            <a:ext cx="3474720" cy="292608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1" name="Text 7"/>
          <p:cNvSpPr/>
          <p:nvPr/>
        </p:nvSpPr>
        <p:spPr>
          <a:xfrm>
            <a:off x="10789920" y="21579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72.9%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22376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 (Coagulation)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223760" y="2990088"/>
            <a:ext cx="235937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4" name="Text 10"/>
          <p:cNvSpPr/>
          <p:nvPr/>
        </p:nvSpPr>
        <p:spPr>
          <a:xfrm>
            <a:off x="9674578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49.5%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223760" y="3474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HISCL (Immunoassay)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223760" y="3767328"/>
            <a:ext cx="1506189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7" name="Text 13"/>
          <p:cNvSpPr/>
          <p:nvPr/>
        </p:nvSpPr>
        <p:spPr>
          <a:xfrm>
            <a:off x="8821389" y="371246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31.6%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223760" y="4251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 (Hematology)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0" y="4544568"/>
            <a:ext cx="132029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0" name="Text 16"/>
          <p:cNvSpPr/>
          <p:nvPr/>
        </p:nvSpPr>
        <p:spPr>
          <a:xfrm>
            <a:off x="8635498" y="4489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27.7%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30352" y="5166360"/>
            <a:ext cx="11100816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22" name="Text 18"/>
          <p:cNvSpPr/>
          <p:nvPr/>
        </p:nvSpPr>
        <p:spPr>
          <a:xfrm>
            <a:off x="731520" y="5285232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SP(도말표본 제작 장비) 계열의 에러율이 72.9%로 가장 높아 전체 서비스 활동의 대부분이 고장 수리로 발생하고 있습니다. CN(응고) 계열도 49.5%로 절반 수준이며, XN/XR(혈액) 계열은 27.7%로 상대적으로 안정적입니다. SP·CN 계열 우선 예방정비 강화가 필요합니다.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데이터 분석 결과 (2026년 7월): 강남차병원·강남차여성병원 프로젝트(XR-9000/XR-1000)는 담당 엔지니어(Martin)가 설치 → 평가 지원 → 이전설치까지 4건을 연속 담당해 책임 담당제의 고객 연속성을 보여주는 우수 사례입니다. 설치·이전설치 평균 소요기간은 1.25일로 신속하게 처리되었으나, FS South팀은 7월 설치 실적 0건으로 팀간 업무량 편차 확인이 필요합니다.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설치 파이프라인 대응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7099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기준 8월 예정 16건(설치 9 · 평가 5 · 이전설치 2) 사전 리소스 배정 및 일정 조율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96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South팀 업무량 편차 점검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80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설치 실적 0건 원인 파악 후 8월 배정 검토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666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담당제 우수 사례 확산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507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강남차병원 사례(담당 엔지니어 연속 대응)를 타 팀 벤치마킹 사례로 공유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837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미확보 데이터 확보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22122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PM·A/S 실적, VOC 대시보드 연동 데이터 확보하여 다음 보고 시 KPI·VOC 항목 완성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2026-07-21T06:52:52Z</dcterms:created>
  <dcterms:modified xsi:type="dcterms:W3CDTF">2026-07-21T06:52:52Z</dcterms:modified>
</cp:coreProperties>
</file>