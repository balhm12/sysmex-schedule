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68580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411480"/>
            <a:ext cx="219456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</p:spPr>
      </p:sp>
      <p:pic>
        <p:nvPicPr>
          <p:cNvPr id="4" name="Image 0" descr="sysmex_logo_full_col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594360"/>
            <a:ext cx="1828800" cy="548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78408" y="2377440"/>
            <a:ext cx="10241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FSG 월간 서비스 활동 보고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978408" y="34015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00B8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중심(Customer-Centric) 서비스 운영 보고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978408" y="3886200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7월 · FS Group / FSS Team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978408" y="53949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2026.07.25 · FS Group / FSS Team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0" y="626364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CFE0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Together for a better healthcare journey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 및 Executive Summary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134416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7" name="Text 4"/>
          <p:cNvSpPr/>
          <p:nvPr/>
        </p:nvSpPr>
        <p:spPr>
          <a:xfrm>
            <a:off x="548640" y="134416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1280160" y="123444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280160" y="161848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설치·PM·A/S 실적 및 KPI 요약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230428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1" name="Text 8"/>
          <p:cNvSpPr/>
          <p:nvPr/>
        </p:nvSpPr>
        <p:spPr>
          <a:xfrm>
            <a:off x="548640" y="230428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280160" y="21945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1280160" y="257860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만족도 서베이 응답·유형별 처리 현황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48640" y="326440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5" name="Text 12"/>
          <p:cNvSpPr/>
          <p:nvPr/>
        </p:nvSpPr>
        <p:spPr>
          <a:xfrm>
            <a:off x="548640" y="32644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1280160" y="31546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1600" dirty="0"/>
          </a:p>
        </p:txBody>
      </p:sp>
      <p:sp>
        <p:nvSpPr>
          <p:cNvPr id="17" name="Text 14"/>
          <p:cNvSpPr/>
          <p:nvPr/>
        </p:nvSpPr>
        <p:spPr>
          <a:xfrm>
            <a:off x="1280160" y="353872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긴급/중대 VOC 접수·조치·종결 현황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48640" y="422452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19" name="Text 16"/>
          <p:cNvSpPr/>
          <p:nvPr/>
        </p:nvSpPr>
        <p:spPr>
          <a:xfrm>
            <a:off x="548640" y="422452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1280160" y="41148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1280160" y="449884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기술·서비스 교육 현황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548640" y="5184648"/>
            <a:ext cx="502920" cy="502920"/>
          </a:xfrm>
          <a:prstGeom prst="ellipse">
            <a:avLst/>
          </a:prstGeom>
          <a:solidFill>
            <a:srgbClr val="005BAC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518464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1280160" y="50749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1280160" y="5458968"/>
            <a:ext cx="9509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및 사내 그룹 활동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서비스 활동 보고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430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팀별 서비스 활동 실적</a:t>
            </a:r>
            <a:endParaRPr lang="en-US" sz="14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0352" y="1508760"/>
          <a:ext cx="100584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463040"/>
                <a:gridCol w="2377440"/>
                <a:gridCol w="1463040"/>
                <a:gridCol w="1463040"/>
                <a:gridCol w="14630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리더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PM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A/S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East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Gray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West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Huymori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South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John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FS Central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Eden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8"/>
                    </a:solidFill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530352" y="41605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KPI 요약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530352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0" name="Text 6"/>
          <p:cNvSpPr/>
          <p:nvPr/>
        </p:nvSpPr>
        <p:spPr>
          <a:xfrm>
            <a:off x="530352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재방문율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0352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530352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15% 이하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3383280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4" name="Text 10"/>
          <p:cNvSpPr/>
          <p:nvPr/>
        </p:nvSpPr>
        <p:spPr>
          <a:xfrm>
            <a:off x="3383280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Uptime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83280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383280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90% 이상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236208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18" name="Text 14"/>
          <p:cNvSpPr/>
          <p:nvPr/>
        </p:nvSpPr>
        <p:spPr>
          <a:xfrm>
            <a:off x="6236208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FTFR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6236208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6236208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참고 지표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9089136" y="4526280"/>
            <a:ext cx="2651760" cy="1463040"/>
          </a:xfrm>
          <a:prstGeom prst="roundRect">
            <a:avLst>
              <a:gd name="adj" fmla="val 4375"/>
            </a:avLst>
          </a:prstGeom>
          <a:solidFill>
            <a:srgbClr val="F5F8FC"/>
          </a:solidFill>
          <a:ln/>
        </p:spPr>
      </p:sp>
      <p:sp>
        <p:nvSpPr>
          <p:cNvPr id="22" name="Text 18"/>
          <p:cNvSpPr/>
          <p:nvPr/>
        </p:nvSpPr>
        <p:spPr>
          <a:xfrm>
            <a:off x="9089136" y="464515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책임 배정율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9089136" y="4956048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9089136" y="55778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100%</a:t>
            </a:r>
            <a:endParaRPr lang="en-US" sz="1000" dirty="0"/>
          </a:p>
        </p:txBody>
      </p:sp>
      <p:sp>
        <p:nvSpPr>
          <p:cNvPr id="25" name="Text 21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정보 및 처리현황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수집 현황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30352" y="1554480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8" name="Text 5"/>
          <p:cNvSpPr/>
          <p:nvPr/>
        </p:nvSpPr>
        <p:spPr>
          <a:xfrm>
            <a:off x="713232" y="162763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 건수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1993392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530352" y="2542032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713232" y="26151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평점 (응대/일정·전문성/문제해결·고객응대)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13232" y="298094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30352" y="3529584"/>
            <a:ext cx="5486400" cy="868680"/>
          </a:xfrm>
          <a:prstGeom prst="roundRect">
            <a:avLst>
              <a:gd name="adj" fmla="val 6316"/>
            </a:avLst>
          </a:prstGeom>
          <a:solidFill>
            <a:srgbClr val="F5F8FC"/>
          </a:solidFill>
          <a:ln/>
        </p:spPr>
      </p:sp>
      <p:sp>
        <p:nvSpPr>
          <p:cNvPr id="14" name="Text 11"/>
          <p:cNvSpPr/>
          <p:nvPr/>
        </p:nvSpPr>
        <p:spPr>
          <a:xfrm>
            <a:off x="713232" y="360273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유형별 분포 (기술문의/AS·응대지연·인력공백·장비신뢰성·기타)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13232" y="3968496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6309360" y="1188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처리현황</a:t>
            </a:r>
            <a:endParaRPr lang="en-US" sz="14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554480"/>
                <a:gridCol w="155448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 상태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건수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5BAC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처리완료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처리중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미처리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i="1" dirty="0">
                          <a:solidFill>
                            <a:srgbClr val="3F3F3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자료 미제공 – 추후 업데이트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4"/>
          <p:cNvSpPr/>
          <p:nvPr/>
        </p:nvSpPr>
        <p:spPr>
          <a:xfrm>
            <a:off x="6309360" y="3703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대시보드(Google Forms 자동화)의 해당 기간 리포트를 소스로 함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43000"/>
            <a:ext cx="11100816" cy="777240"/>
          </a:xfrm>
          <a:prstGeom prst="roundRect">
            <a:avLst>
              <a:gd name="adj" fmla="val 7059"/>
            </a:avLst>
          </a:prstGeom>
          <a:solidFill>
            <a:srgbClr val="E6EEF7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22529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레드 플래그 시스템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13232" y="1536192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평가 2점 이하 또는 서술형 "심각" 분류 건을 즉시 감지 → 분야별 전문가 TFT 구성 → SLA(1차 컨택 24~48시간) 내 처리하여 신뢰 회복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30352" y="21031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· 조치 · 종결 현황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30352" y="2468880"/>
            <a:ext cx="11100816" cy="3200400"/>
          </a:xfrm>
          <a:prstGeom prst="roundRect">
            <a:avLst>
              <a:gd name="adj" fmla="val 2286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11" name="Text 8"/>
          <p:cNvSpPr/>
          <p:nvPr/>
        </p:nvSpPr>
        <p:spPr>
          <a:xfrm>
            <a:off x="530352" y="2468880"/>
            <a:ext cx="11100816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 교육 등 처리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263640" y="1188720"/>
            <a:ext cx="5394960" cy="2651760"/>
          </a:xfrm>
          <a:prstGeom prst="roundRect">
            <a:avLst>
              <a:gd name="adj" fmla="val 2069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9" name="Text 6"/>
          <p:cNvSpPr/>
          <p:nvPr/>
        </p:nvSpPr>
        <p:spPr>
          <a:xfrm>
            <a:off x="6263640" y="1188720"/>
            <a:ext cx="53949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30352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263640" y="397764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530352" y="4480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대리점(에이전시) 대상 기술 교육, 서비스 프로세스 안내 등 처리 현황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직원교육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30352" y="1051560"/>
            <a:ext cx="111008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Sysmex Technical Academy: 주니어 레벨 빠른 성장 및 Expert Engineer 육성 · Working Group: 4개 분야(Hema/Urine/Coa/Immuno) 전문성 강화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530352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8" name="Text 5"/>
          <p:cNvSpPr/>
          <p:nvPr/>
        </p:nvSpPr>
        <p:spPr>
          <a:xfrm>
            <a:off x="530352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263640" y="1508760"/>
            <a:ext cx="5394960" cy="2468880"/>
          </a:xfrm>
          <a:prstGeom prst="roundRect">
            <a:avLst>
              <a:gd name="adj" fmla="val 2222"/>
            </a:avLst>
          </a:prstGeom>
          <a:solidFill>
            <a:srgbClr val="EFEFEF"/>
          </a:solidFill>
          <a:ln w="9525">
            <a:solidFill>
              <a:srgbClr val="9E9E9E"/>
            </a:solidFill>
            <a:prstDash val="dash"/>
          </a:ln>
        </p:spPr>
      </p:sp>
      <p:sp>
        <p:nvSpPr>
          <p:cNvPr id="10" name="Text 7"/>
          <p:cNvSpPr/>
          <p:nvPr/>
        </p:nvSpPr>
        <p:spPr>
          <a:xfrm>
            <a:off x="6263640" y="1508760"/>
            <a:ext cx="5394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사진 자리 (Placeholder)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30352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Technical Academy — 자료 미제공 – 추후 업데이트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263640" y="411480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Working Group — 자료 미제공 – 추후 업데이트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서비스 하이라이트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VOC 대응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1323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피드백 기반 개선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1323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27939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1" name="Text 8"/>
          <p:cNvSpPr/>
          <p:nvPr/>
        </p:nvSpPr>
        <p:spPr>
          <a:xfrm>
            <a:off x="446227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중대 이슈 대응력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446227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 준수 · 신속 종결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46227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028432" y="1234440"/>
            <a:ext cx="3566160" cy="2011680"/>
          </a:xfrm>
          <a:prstGeom prst="roundRect">
            <a:avLst>
              <a:gd name="adj" fmla="val 3636"/>
            </a:avLst>
          </a:prstGeom>
          <a:solidFill>
            <a:srgbClr val="F5F8FC"/>
          </a:solidFill>
          <a:ln/>
        </p:spPr>
      </p:sp>
      <p:sp>
        <p:nvSpPr>
          <p:cNvPr id="15" name="Text 12"/>
          <p:cNvSpPr/>
          <p:nvPr/>
        </p:nvSpPr>
        <p:spPr>
          <a:xfrm>
            <a:off x="8211312" y="14173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대리점/직원 역량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8211312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F3F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교육 통한 서비스 품질 제고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211312" y="237744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30352" y="3520440"/>
            <a:ext cx="11100816" cy="2103120"/>
          </a:xfrm>
          <a:prstGeom prst="roundRect">
            <a:avLst>
              <a:gd name="adj" fmla="val 3478"/>
            </a:avLst>
          </a:prstGeom>
          <a:solidFill>
            <a:srgbClr val="E6EEF7"/>
          </a:solidFill>
          <a:ln/>
        </p:spPr>
      </p:sp>
      <p:sp>
        <p:nvSpPr>
          <p:cNvPr id="19" name="Text 16"/>
          <p:cNvSpPr/>
          <p:nvPr/>
        </p:nvSpPr>
        <p:spPr>
          <a:xfrm>
            <a:off x="777240" y="3657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고객 중심 Insight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777240" y="402336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378440" cy="914400"/>
          </a:xfrm>
          <a:prstGeom prst="rect">
            <a:avLst/>
          </a:prstGeom>
          <a:solidFill>
            <a:srgbClr val="005BAC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164592"/>
            <a:ext cx="8229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0B8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234440" y="164592"/>
            <a:ext cx="85953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Next Step</a:t>
            </a:r>
            <a:endParaRPr lang="en-US" sz="2600" dirty="0"/>
          </a:p>
        </p:txBody>
      </p:sp>
      <p:pic>
        <p:nvPicPr>
          <p:cNvPr id="5" name="Image 0" descr="sysmex_logo_mono_bl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52760" y="292608"/>
            <a:ext cx="1097280" cy="42062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30352" y="1234440"/>
            <a:ext cx="11100816" cy="4480560"/>
          </a:xfrm>
          <a:prstGeom prst="roundRect">
            <a:avLst>
              <a:gd name="adj" fmla="val 1633"/>
            </a:avLst>
          </a:prstGeom>
          <a:solidFill>
            <a:srgbClr val="E6EEF7"/>
          </a:solidFill>
          <a:ln w="9525">
            <a:solidFill>
              <a:srgbClr val="005BAC"/>
            </a:solidFill>
            <a:prstDash val="dash"/>
          </a:ln>
        </p:spPr>
      </p:sp>
      <p:sp>
        <p:nvSpPr>
          <p:cNvPr id="7" name="Text 4"/>
          <p:cNvSpPr/>
          <p:nvPr/>
        </p:nvSpPr>
        <p:spPr>
          <a:xfrm>
            <a:off x="530352" y="1234440"/>
            <a:ext cx="11100816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005BA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미제공 – 추후 업데이트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6547104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FS Group │ FSS Team · 2026년 7월 · Confidential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11247120" y="654710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2026-07-20T22:19:03Z</dcterms:created>
  <dcterms:modified xsi:type="dcterms:W3CDTF">2026-07-20T22:19:03Z</dcterms:modified>
</cp:coreProperties>
</file>