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3774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401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중심(Customer-Centric) 서비스 운영 보고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8408" y="3886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29844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298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188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80160" y="15727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설치·PM·A/S 실적 및 KPI 요약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12140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121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23957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구분 없이 모델(시리즈)별 설치 집계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294436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944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2834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280160" y="32186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만족도 서베이 응답·유형별 처리 현황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376732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3657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80160" y="40416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긴급/중대 VOC 접수·조치·종결 현황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459028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4590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8016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280160" y="486460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기술·서비스 교육 현황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541324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5303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280160" y="56875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및 사내 그룹 활동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서비스 활동 실적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10058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23774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Huymori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John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Eden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77647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건수는 신규 설치 기준(설치일정 관리 시트). 이전설치 4건 (FS East 3 · FS West 1), 장비 설치평가 4건 (SA팀 진행, FS팀 실적과 별도 집계)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30352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요약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1" name="Text 7"/>
          <p:cNvSpPr/>
          <p:nvPr/>
        </p:nvSpPr>
        <p:spPr>
          <a:xfrm>
            <a:off x="530352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재방문율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30352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30352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15% 이하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383280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5" name="Text 11"/>
          <p:cNvSpPr/>
          <p:nvPr/>
        </p:nvSpPr>
        <p:spPr>
          <a:xfrm>
            <a:off x="3383280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383280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383280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90% 이상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36208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9" name="Text 15"/>
          <p:cNvSpPr/>
          <p:nvPr/>
        </p:nvSpPr>
        <p:spPr>
          <a:xfrm>
            <a:off x="6236208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236208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236208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089136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23" name="Text 19"/>
          <p:cNvSpPr/>
          <p:nvPr/>
        </p:nvSpPr>
        <p:spPr>
          <a:xfrm>
            <a:off x="9089136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배정율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9089136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9089136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100%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9728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설치+이전설치 전체 16건 — 팀 구분 없이 모델(시리즈) 기준 집계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60020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 모델(시리즈)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XR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 시리즈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UN/UC 시리즈 (Urine)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SP/DI 시리즈 (도말표본)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 시리즈 (Hematology)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892808"/>
            <a:ext cx="4206240" cy="256032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0" name="Text 6"/>
          <p:cNvSpPr/>
          <p:nvPr/>
        </p:nvSpPr>
        <p:spPr>
          <a:xfrm>
            <a:off x="11155680" y="18562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858000" y="2258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 시리즈 (Hematology)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2551176"/>
            <a:ext cx="3004457" cy="256032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13" name="Text 9"/>
          <p:cNvSpPr/>
          <p:nvPr/>
        </p:nvSpPr>
        <p:spPr>
          <a:xfrm>
            <a:off x="9953897" y="2514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5건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858000" y="2916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 시리즈 (Coagulation)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3209544"/>
            <a:ext cx="1201783" cy="256032"/>
          </a:xfrm>
          <a:prstGeom prst="rect">
            <a:avLst/>
          </a:prstGeom>
          <a:solidFill>
            <a:srgbClr val="3FBA46"/>
          </a:solidFill>
          <a:ln/>
        </p:spPr>
      </p:sp>
      <p:sp>
        <p:nvSpPr>
          <p:cNvPr id="16" name="Text 12"/>
          <p:cNvSpPr/>
          <p:nvPr/>
        </p:nvSpPr>
        <p:spPr>
          <a:xfrm>
            <a:off x="8151223" y="31729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858000" y="35753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UN/UC 시리즈 (Urine)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0" y="3867912"/>
            <a:ext cx="600891" cy="256032"/>
          </a:xfrm>
          <a:prstGeom prst="rect">
            <a:avLst/>
          </a:prstGeom>
          <a:solidFill>
            <a:srgbClr val="7E49DC"/>
          </a:solidFill>
          <a:ln/>
        </p:spPr>
      </p:sp>
      <p:sp>
        <p:nvSpPr>
          <p:cNvPr id="19" name="Text 15"/>
          <p:cNvSpPr/>
          <p:nvPr/>
        </p:nvSpPr>
        <p:spPr>
          <a:xfrm>
            <a:off x="7550331" y="383133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58000" y="4233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SP/DI 시리즈 (도말표본)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858000" y="4526280"/>
            <a:ext cx="600891" cy="256032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2" name="Text 18"/>
          <p:cNvSpPr/>
          <p:nvPr/>
        </p:nvSpPr>
        <p:spPr>
          <a:xfrm>
            <a:off x="7550331" y="448970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30352" y="512064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설치일정 관리 시트 (2026년 7월, 설치+이전설치 전체 대상, 원본 모델명을 시리즈 단위로 그룹핑)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현황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0352" y="1554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" y="2542032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평점 (①신속성·일정 ②전문성·문제해결 ③고객응대·마무리)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2980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" y="3529584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서술형 의견 분류 (심각·개선요청·칭찬·단순의견)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9684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0936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처리현황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처리완료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30936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방문 서비스 만족도 조사 자동 분석 시스템 (Google Forms + Apps Script, 팀별/개인별/직급별/지역별/월별 집계 및 기간별 보고서 자동 생성)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43000"/>
            <a:ext cx="11100816" cy="777240"/>
          </a:xfrm>
          <a:prstGeom prst="roundRect">
            <a:avLst>
              <a:gd name="adj" fmla="val 7059"/>
            </a:avLst>
          </a:prstGeom>
          <a:solidFill>
            <a:srgbClr val="E6EEF7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레드 플래그 시스템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15361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2점 이하 또는 서술형 "심각" 분류 건을 즉시 감지 → 분야별 전문가 TFT 구성 → SLA(1차 컨택 24~48시간) 내 처리하여 신뢰 회복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0352" y="2103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조치 · 종결 현황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" y="2468880"/>
            <a:ext cx="11100816" cy="3200400"/>
          </a:xfrm>
          <a:prstGeom prst="roundRect">
            <a:avLst>
              <a:gd name="adj" fmla="val 2286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30352" y="2468880"/>
            <a:ext cx="1110081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4480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 교육, 서비스 프로세스 안내 등 처리 현황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Sysmex Technical Academy: 주니어 레벨 빠른 성장 및 Expert Engineer 육성 · Working Group: 4개 분야(Hema/Urine/Coa/Immuno) 전문성 강화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263640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— 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Group — 자료 미제공 – 추후 업데이트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서비스 하이라이트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피드백 기반 개선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대응력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6227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 · 신속 종결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227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대리점/직원 역량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131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통한 서비스 품질 제고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131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Insight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CRM 데이터 분석 결과 (2026년 7월): 강남차병원·강남차여성병원 프로젝트(XR-9000/XR-1000)는 담당 엔지니어(Martin)가 설치 → 평가 지원 → 이전설치까지 4건을 연속 담당해 책임 담당제의 고객 연속성을 보여주는 우수 사례입니다. 설치·이전설치 평균 소요기간은 1.25일로 신속하게 처리되었으나, FS South팀은 7월 설치 실적 0건으로 팀간 업무량 편차 확인이 필요합니다.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325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설치 파이프라인 대응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17099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CRM 기준 8월 예정 16건(설치 9 · 평가 5 · 이전설치 2) 사전 리소스 배정 및 일정 조율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496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South팀 업무량 편차 점검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80160" y="28803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설치 실적 0건 원인 파악 후 8월 배정 검토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66674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담당제 우수 사례 확산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280160" y="405079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강남차병원 사례(담당 엔지니어 연속 대응)를 타 팀 벤치마킹 사례로 공유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8371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미확보 데이터 확보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280160" y="522122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PM·A/S 실적, VOC 대시보드 연동 데이터 확보하여 다음 보고 시 KPI·VOC 항목 완성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2026-07-20T23:31:51Z</dcterms:created>
  <dcterms:modified xsi:type="dcterms:W3CDTF">2026-07-20T23:31:51Z</dcterms:modified>
</cp:coreProperties>
</file>